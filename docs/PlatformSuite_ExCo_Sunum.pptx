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307" r:id="rId8"/>
    <p:sldId id="308" r:id="rId9"/>
    <p:sldId id="309" r:id="rId10"/>
    <p:sldId id="276" r:id="rId11"/>
    <p:sldId id="277" r:id="rId12"/>
    <p:sldId id="278" r:id="rId13"/>
    <p:sldId id="279" r:id="rId14"/>
    <p:sldId id="304" r:id="rId15"/>
    <p:sldId id="305" r:id="rId16"/>
    <p:sldId id="306" r:id="rId17"/>
    <p:sldId id="280" r:id="rId18"/>
    <p:sldId id="282" r:id="rId19"/>
    <p:sldId id="284" r:id="rId20"/>
    <p:sldId id="286" r:id="rId21"/>
    <p:sldId id="287" r:id="rId22"/>
    <p:sldId id="288" r:id="rId23"/>
    <p:sldId id="289" r:id="rId24"/>
    <p:sldId id="290" r:id="rId25"/>
    <p:sldId id="291" r:id="rId26"/>
    <p:sldId id="293" r:id="rId27"/>
    <p:sldId id="294" r:id="rId28"/>
    <p:sldId id="296" r:id="rId29"/>
    <p:sldId id="297" r:id="rId30"/>
    <p:sldId id="298" r:id="rId31"/>
    <p:sldId id="299" r:id="rId32"/>
    <p:sldId id="303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69"/>
    <p:restoredTop sz="94719"/>
  </p:normalViewPr>
  <p:slideViewPr>
    <p:cSldViewPr snapToGrid="0" snapToObjects="1">
      <p:cViewPr varScale="1">
        <p:scale>
          <a:sx n="195" d="100"/>
          <a:sy n="195" d="100"/>
        </p:scale>
        <p:origin x="92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798320" y="-1645920"/>
            <a:ext cx="5486400" cy="5486400"/>
          </a:xfrm>
          <a:prstGeom prst="ellipse">
            <a:avLst/>
          </a:prstGeom>
          <a:solidFill>
            <a:srgbClr val="121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4114800"/>
            <a:ext cx="6400800" cy="6400800"/>
          </a:xfrm>
          <a:prstGeom prst="ellipse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-914400"/>
            <a:ext cx="2743200" cy="2743200"/>
          </a:xfrm>
          <a:prstGeom prst="ellipse">
            <a:avLst/>
          </a:prstGeom>
          <a:solidFill>
            <a:srgbClr val="121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 dirty="0">
                <a:solidFill>
                  <a:srgbClr val="FEF3C7"/>
                </a:solidFill>
                <a:latin typeface="Calibri"/>
              </a:rPr>
              <a:t>PLATFORM</a:t>
            </a:r>
            <a:r>
              <a:rPr lang="tr-TR" sz="6000" b="1" dirty="0">
                <a:solidFill>
                  <a:srgbClr val="FEF3C7"/>
                </a:solidFill>
                <a:latin typeface="Calibri"/>
              </a:rPr>
              <a:t> </a:t>
            </a:r>
            <a:r>
              <a:rPr sz="6000" b="1" dirty="0">
                <a:solidFill>
                  <a:srgbClr val="FEF3C7"/>
                </a:solidFill>
                <a:latin typeface="Calibri"/>
              </a:rPr>
              <a:t>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8453"/>
            <a:ext cx="105156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rgbClr val="FFFFFF"/>
                </a:solidFill>
                <a:latin typeface="Calibri"/>
              </a:rPr>
              <a:t>AI </a:t>
            </a:r>
            <a:r>
              <a:rPr sz="3200" b="1" dirty="0" err="1">
                <a:solidFill>
                  <a:srgbClr val="FFFFFF"/>
                </a:solidFill>
                <a:latin typeface="Calibri"/>
              </a:rPr>
              <a:t>Destekli</a:t>
            </a:r>
            <a:r>
              <a:rPr sz="3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Calibri"/>
              </a:rPr>
              <a:t>Kurumsal</a:t>
            </a:r>
            <a:r>
              <a:rPr lang="tr-TR" sz="3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Calibri"/>
              </a:rPr>
              <a:t>Geliştirme</a:t>
            </a:r>
            <a:r>
              <a:rPr sz="3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Calibri"/>
              </a:rPr>
              <a:t>Altyapısı</a:t>
            </a:r>
            <a:endParaRPr sz="3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1520" y="4846320"/>
            <a:ext cx="1828800" cy="54864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5156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dirty="0" err="1">
                <a:solidFill>
                  <a:srgbClr val="EFF6FF"/>
                </a:solidFill>
                <a:latin typeface="Calibri"/>
              </a:rPr>
              <a:t>Ürünleştirme</a:t>
            </a:r>
            <a:r>
              <a:rPr sz="2200" b="0" dirty="0">
                <a:solidFill>
                  <a:srgbClr val="EFF6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EFF6FF"/>
                </a:solidFill>
                <a:latin typeface="Calibri"/>
              </a:rPr>
              <a:t>Stratejisi</a:t>
            </a:r>
            <a:endParaRPr sz="2200" b="0" dirty="0">
              <a:solidFill>
                <a:srgbClr val="EFF6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069E49"/>
                </a:solidFill>
                <a:latin typeface="Calibri"/>
              </a:rPr>
              <a:t>Codeliman   |   Haziran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21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Gündem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822960" cy="914400"/>
          </a:xfrm>
          <a:prstGeom prst="roundRect">
            <a:avLst/>
          </a:prstGeom>
          <a:solidFill>
            <a:srgbClr val="121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188720"/>
            <a:ext cx="4572000" cy="91440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54480" y="128016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21343"/>
                </a:solidFill>
                <a:latin typeface="Calibri"/>
              </a:rPr>
              <a:t>Vizyon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4592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Değer önerisi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94560"/>
            <a:ext cx="822960" cy="914400"/>
          </a:xfrm>
          <a:prstGeom prst="roundRect">
            <a:avLst/>
          </a:prstGeom>
          <a:solidFill>
            <a:srgbClr val="121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194560"/>
            <a:ext cx="4572000" cy="91440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54480" y="228600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21343"/>
                </a:solidFill>
                <a:latin typeface="Calibri"/>
              </a:rPr>
              <a:t>PlatformSuite Nedir?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65176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6B7280"/>
                </a:solidFill>
                <a:latin typeface="Calibri"/>
              </a:rPr>
              <a:t>Mimari · API · Frontend · Apps katmanı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00400"/>
            <a:ext cx="822960" cy="914400"/>
          </a:xfrm>
          <a:prstGeom prst="roundRect">
            <a:avLst/>
          </a:prstGeom>
          <a:solidFill>
            <a:srgbClr val="121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3200400"/>
            <a:ext cx="4572000" cy="91440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54480" y="3291840"/>
            <a:ext cx="43891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600" b="1" dirty="0">
                <a:solidFill>
                  <a:srgbClr val="021343"/>
                </a:solidFill>
                <a:latin typeface="Calibri"/>
              </a:rPr>
              <a:t>Geliştirme</a:t>
            </a:r>
            <a:endParaRPr sz="1600" b="1" dirty="0">
              <a:solidFill>
                <a:srgbClr val="021343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54480" y="365760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Frontend + Backend pattern'leri ve örnek kod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06240"/>
            <a:ext cx="822960" cy="914400"/>
          </a:xfrm>
          <a:prstGeom prst="roundRect">
            <a:avLst/>
          </a:prstGeom>
          <a:solidFill>
            <a:srgbClr val="121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4206240"/>
            <a:ext cx="4572000" cy="91440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54480" y="429768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21343"/>
                </a:solidFill>
                <a:latin typeface="Calibri"/>
              </a:rPr>
              <a:t>Uçtan Uca Mimari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66344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Backend → Frontend tek akış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188720"/>
            <a:ext cx="822960" cy="914400"/>
          </a:xfrm>
          <a:prstGeom prst="roundRect">
            <a:avLst/>
          </a:prstGeom>
          <a:solidFill>
            <a:srgbClr val="121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0" y="1188720"/>
            <a:ext cx="4572000" cy="91440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0" y="128016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21343"/>
                </a:solidFill>
                <a:latin typeface="Calibri"/>
              </a:rPr>
              <a:t>AI Hazırlığı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164592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Müşterinin AI ile geliştirme yapabilmesi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194560"/>
            <a:ext cx="822960" cy="914400"/>
          </a:xfrm>
          <a:prstGeom prst="roundRect">
            <a:avLst/>
          </a:prstGeom>
          <a:solidFill>
            <a:srgbClr val="121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0" y="2194560"/>
            <a:ext cx="4572000" cy="91440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0" y="228600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21343"/>
                </a:solidFill>
                <a:latin typeface="Calibri"/>
              </a:rPr>
              <a:t>Çoklu Uygulama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265176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CRM + </a:t>
            </a:r>
            <a:r>
              <a:rPr sz="1100" b="0" dirty="0" err="1">
                <a:solidFill>
                  <a:srgbClr val="6B7280"/>
                </a:solidFill>
                <a:latin typeface="Calibri"/>
              </a:rPr>
              <a:t>CodePro</a:t>
            </a:r>
            <a:r>
              <a:rPr sz="11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6B7280"/>
                </a:solidFill>
                <a:latin typeface="Calibri"/>
              </a:rPr>
              <a:t>kanıtı</a:t>
            </a:r>
            <a:endParaRPr sz="1100" b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217920" y="3200400"/>
            <a:ext cx="822960" cy="914400"/>
          </a:xfrm>
          <a:prstGeom prst="roundRect">
            <a:avLst/>
          </a:prstGeom>
          <a:solidFill>
            <a:srgbClr val="121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0" y="3200400"/>
            <a:ext cx="4572000" cy="91440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0" y="329184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21343"/>
                </a:solidFill>
                <a:latin typeface="Calibri"/>
              </a:rPr>
              <a:t>Roadmap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365760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Faz 0 → Faz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537960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 err="1">
                <a:solidFill>
                  <a:srgbClr val="6B7280"/>
                </a:solidFill>
                <a:latin typeface="Calibri"/>
              </a:rPr>
              <a:t>Codeliman</a:t>
            </a:r>
            <a:r>
              <a:rPr sz="1000" b="0" dirty="0">
                <a:solidFill>
                  <a:srgbClr val="6B7280"/>
                </a:solidFill>
                <a:latin typeface="Calibri"/>
              </a:rPr>
              <a:t>  •  </a:t>
            </a:r>
            <a:r>
              <a:rPr lang="en-US" sz="1000" b="0" dirty="0" err="1">
                <a:solidFill>
                  <a:srgbClr val="6B7280"/>
                </a:solidFill>
                <a:latin typeface="Calibri"/>
              </a:rPr>
              <a:t>PlatformSuite</a:t>
            </a:r>
            <a:r>
              <a:rPr lang="en-US" sz="10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b="0" dirty="0">
                <a:solidFill>
                  <a:srgbClr val="6B7280"/>
                </a:solidFill>
                <a:latin typeface="Calibri"/>
              </a:rPr>
              <a:t>•  Haziran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69E49"/>
                </a:solidFill>
                <a:latin typeface="Calibri"/>
              </a:rPr>
              <a:t>BÖLÜM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1828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0" b="1">
                <a:solidFill>
                  <a:srgbClr val="FEF3C7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108960"/>
            <a:ext cx="82296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Vizyon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21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Calibri"/>
              </a:rPr>
              <a:t>Değer </a:t>
            </a:r>
            <a:r>
              <a:rPr sz="2600" b="1" dirty="0" err="1">
                <a:solidFill>
                  <a:srgbClr val="FFFFFF"/>
                </a:solidFill>
                <a:latin typeface="Calibri"/>
              </a:rPr>
              <a:t>Önerisi</a:t>
            </a:r>
            <a:endParaRPr sz="26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32720" cy="41148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121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1828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0" b="1">
                <a:solidFill>
                  <a:srgbClr val="121147"/>
                </a:solidFill>
                <a:latin typeface="Calibri"/>
              </a:rPr>
              <a:t>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46888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0">
                <a:solidFill>
                  <a:srgbClr val="1F2937"/>
                </a:solidFill>
                <a:latin typeface="Calibri"/>
              </a:rPr>
              <a:t>Müşterilerimiz altyapı kodu yazmak yerine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20040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0">
                <a:solidFill>
                  <a:srgbClr val="1F2937"/>
                </a:solidFill>
                <a:latin typeface="Calibri"/>
              </a:rPr>
              <a:t>kendi iş kurallarına odaklanır;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93192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0">
                <a:solidFill>
                  <a:srgbClr val="1F2937"/>
                </a:solidFill>
                <a:latin typeface="Calibri"/>
              </a:rPr>
              <a:t>AI destekli geliştirme 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66344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>
                <a:solidFill>
                  <a:srgbClr val="021343"/>
                </a:solidFill>
                <a:latin typeface="Calibri"/>
              </a:rPr>
              <a:t>3 kat daha hızlı feature çıkarır.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 err="1">
                <a:solidFill>
                  <a:srgbClr val="6B7280"/>
                </a:solidFill>
                <a:latin typeface="Calibri"/>
              </a:rPr>
              <a:t>Codeliman</a:t>
            </a:r>
            <a:r>
              <a:rPr sz="1000" b="0" dirty="0">
                <a:solidFill>
                  <a:srgbClr val="6B7280"/>
                </a:solidFill>
                <a:latin typeface="Calibri"/>
              </a:rPr>
              <a:t>  •  </a:t>
            </a:r>
            <a:r>
              <a:rPr lang="en-US" sz="1000" b="0" dirty="0" err="1">
                <a:solidFill>
                  <a:srgbClr val="6B7280"/>
                </a:solidFill>
                <a:latin typeface="Calibri"/>
              </a:rPr>
              <a:t>PlatformSuite</a:t>
            </a:r>
            <a:r>
              <a:rPr lang="en-US" sz="10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b="0" dirty="0">
                <a:solidFill>
                  <a:srgbClr val="6B7280"/>
                </a:solidFill>
                <a:latin typeface="Calibri"/>
              </a:rPr>
              <a:t>•  Haziran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69E49"/>
                </a:solidFill>
                <a:latin typeface="Calibri"/>
              </a:rPr>
              <a:t>BÖLÜM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1828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0" b="1">
                <a:solidFill>
                  <a:srgbClr val="FEF3C7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108960"/>
            <a:ext cx="82296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PlatformSuite Nedir?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21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PlatformSuite Nedir?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EFF6FF"/>
                </a:solidFill>
                <a:latin typeface="Calibri"/>
              </a:rPr>
              <a:t>Tek </a:t>
            </a:r>
            <a:r>
              <a:rPr sz="1400" b="0" dirty="0" err="1">
                <a:solidFill>
                  <a:srgbClr val="EFF6FF"/>
                </a:solidFill>
                <a:latin typeface="Calibri"/>
              </a:rPr>
              <a:t>bakışta</a:t>
            </a:r>
            <a:r>
              <a:rPr sz="1400" b="0" dirty="0">
                <a:solidFill>
                  <a:srgbClr val="EFF6FF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EFF6FF"/>
                </a:solidFill>
                <a:latin typeface="Calibri"/>
              </a:rPr>
              <a:t>mimari</a:t>
            </a:r>
            <a:r>
              <a:rPr sz="1400" b="0" dirty="0">
                <a:solidFill>
                  <a:srgbClr val="EFF6FF"/>
                </a:solidFill>
                <a:latin typeface="Calibri"/>
              </a:rPr>
              <a:t> — Platform </a:t>
            </a:r>
            <a:r>
              <a:rPr sz="1400" b="0" dirty="0" err="1">
                <a:solidFill>
                  <a:srgbClr val="EFF6FF"/>
                </a:solidFill>
                <a:latin typeface="Calibri"/>
              </a:rPr>
              <a:t>iki</a:t>
            </a:r>
            <a:r>
              <a:rPr sz="1400" b="0" dirty="0">
                <a:solidFill>
                  <a:srgbClr val="EFF6FF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EFF6FF"/>
                </a:solidFill>
                <a:latin typeface="Calibri"/>
              </a:rPr>
              <a:t>katmanda</a:t>
            </a:r>
            <a:r>
              <a:rPr sz="1400" b="0" dirty="0">
                <a:solidFill>
                  <a:srgbClr val="EFF6FF"/>
                </a:solidFill>
                <a:latin typeface="Calibri"/>
              </a:rPr>
              <a:t>: </a:t>
            </a:r>
            <a:r>
              <a:rPr sz="1400" b="0">
                <a:solidFill>
                  <a:srgbClr val="EFF6FF"/>
                </a:solidFill>
                <a:latin typeface="Calibri"/>
              </a:rPr>
              <a:t>API + </a:t>
            </a:r>
            <a:r>
              <a:rPr sz="1400" b="0" dirty="0">
                <a:solidFill>
                  <a:srgbClr val="EFF6FF"/>
                </a:solidFill>
                <a:latin typeface="Calibri"/>
              </a:rPr>
              <a:t>Frontend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960120"/>
            <a:ext cx="11247120" cy="594360"/>
          </a:xfrm>
          <a:prstGeom prst="roundRect">
            <a:avLst/>
          </a:prstGeom>
          <a:solidFill>
            <a:srgbClr val="54A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AI REHBERİ  (</a:t>
            </a:r>
            <a:r>
              <a:rPr sz="1600" b="1" dirty="0" err="1">
                <a:solidFill>
                  <a:srgbClr val="FFFFFF"/>
                </a:solidFill>
                <a:latin typeface="Calibri"/>
              </a:rPr>
              <a:t>CLAUDE.</a:t>
            </a:r>
            <a:r>
              <a:rPr sz="1600" b="1" err="1">
                <a:solidFill>
                  <a:srgbClr val="FFFFFF"/>
                </a:solidFill>
                <a:latin typeface="Calibri"/>
              </a:rPr>
              <a:t>md</a:t>
            </a:r>
            <a:r>
              <a:rPr sz="1600" b="1">
                <a:solidFill>
                  <a:srgbClr val="FFFFFF"/>
                </a:solidFill>
                <a:latin typeface="Calibri"/>
              </a:rPr>
              <a:t>  +  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Architecture Docs)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240280"/>
            <a:ext cx="5852160" cy="3657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021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" y="1632204"/>
            <a:ext cx="5852160" cy="502920"/>
          </a:xfrm>
          <a:prstGeom prst="roundRect">
            <a:avLst/>
          </a:prstGeom>
          <a:solidFill>
            <a:srgbClr val="021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Calibri"/>
              </a:rPr>
              <a:t>PLATFORM  (Shared)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2642616"/>
            <a:ext cx="5577840" cy="292608"/>
          </a:xfrm>
          <a:prstGeom prst="roundRect">
            <a:avLst/>
          </a:prstGeom>
          <a:solidFill>
            <a:srgbClr val="021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Calibri"/>
              </a:rPr>
              <a:t>①  API  (Backend)  —  .NET </a:t>
            </a:r>
            <a:r>
              <a:rPr sz="1100" b="1">
                <a:solidFill>
                  <a:srgbClr val="FFFFFF"/>
                </a:solidFill>
                <a:latin typeface="Calibri"/>
              </a:rPr>
              <a:t>10 + </a:t>
            </a:r>
            <a:r>
              <a:rPr sz="1100" b="1" dirty="0">
                <a:solidFill>
                  <a:srgbClr val="FFFFFF"/>
                </a:solidFill>
                <a:latin typeface="Calibri"/>
              </a:rPr>
              <a:t>Clean </a:t>
            </a:r>
            <a:r>
              <a:rPr sz="1100" b="1">
                <a:solidFill>
                  <a:srgbClr val="FFFFFF"/>
                </a:solidFill>
                <a:latin typeface="Calibri"/>
              </a:rPr>
              <a:t>Arch + </a:t>
            </a:r>
            <a:r>
              <a:rPr sz="1100" b="1" dirty="0" err="1">
                <a:solidFill>
                  <a:srgbClr val="FFFFFF"/>
                </a:solidFill>
                <a:latin typeface="Calibri"/>
              </a:rPr>
              <a:t>MediatR</a:t>
            </a:r>
            <a:r>
              <a:rPr sz="1100" b="1" dirty="0">
                <a:solidFill>
                  <a:srgbClr val="FFFFFF"/>
                </a:solidFill>
                <a:latin typeface="Calibri"/>
              </a:rPr>
              <a:t>/CQRS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" y="3008376"/>
            <a:ext cx="1804416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9E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021343"/>
                </a:solidFill>
                <a:latin typeface="Calibri"/>
              </a:rPr>
              <a:t>Auth + Session + </a:t>
            </a:r>
            <a:r>
              <a:rPr sz="900" b="1" dirty="0">
                <a:solidFill>
                  <a:srgbClr val="021343"/>
                </a:solidFill>
                <a:latin typeface="Calibri"/>
              </a:rPr>
              <a:t>JWT/SSO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10968" y="3008376"/>
            <a:ext cx="1804416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9E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021343"/>
                </a:solidFill>
                <a:latin typeface="Calibri"/>
              </a:rPr>
              <a:t>Privilege + </a:t>
            </a:r>
            <a:r>
              <a:rPr sz="900" b="1" dirty="0">
                <a:solidFill>
                  <a:srgbClr val="021343"/>
                </a:solidFill>
                <a:latin typeface="Calibri"/>
              </a:rPr>
              <a:t>User/Org/Role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4152" y="3008376"/>
            <a:ext cx="1804416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9E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021343"/>
                </a:solidFill>
                <a:latin typeface="Calibri"/>
              </a:rPr>
              <a:t>Activity Engine (polymorphic)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7784" y="3355848"/>
            <a:ext cx="1804416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9E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tr-TR" sz="900" b="1" dirty="0" err="1">
                <a:solidFill>
                  <a:srgbClr val="021343"/>
                </a:solidFill>
                <a:latin typeface="Calibri"/>
              </a:rPr>
              <a:t>Document</a:t>
            </a:r>
            <a:r>
              <a:rPr lang="tr-TR" sz="900" b="1" dirty="0">
                <a:solidFill>
                  <a:srgbClr val="021343"/>
                </a:solidFill>
                <a:latin typeface="Calibri"/>
              </a:rPr>
              <a:t> </a:t>
            </a:r>
          </a:p>
          <a:p>
            <a:pPr algn="ctr"/>
            <a:r>
              <a:rPr lang="tr-TR" sz="900" b="1" dirty="0">
                <a:solidFill>
                  <a:srgbClr val="021343"/>
                </a:solidFill>
                <a:latin typeface="Calibri"/>
              </a:rPr>
              <a:t>(</a:t>
            </a:r>
            <a:r>
              <a:rPr sz="900" b="1">
                <a:solidFill>
                  <a:srgbClr val="021343"/>
                </a:solidFill>
                <a:latin typeface="Calibri"/>
              </a:rPr>
              <a:t>Attachment +</a:t>
            </a:r>
            <a:r>
              <a:rPr lang="tr-TR" sz="900" b="1">
                <a:solidFill>
                  <a:srgbClr val="021343"/>
                </a:solidFill>
                <a:latin typeface="Calibri"/>
              </a:rPr>
              <a:t> </a:t>
            </a:r>
            <a:r>
              <a:rPr lang="tr-TR" sz="900" b="1" dirty="0" err="1">
                <a:solidFill>
                  <a:srgbClr val="021343"/>
                </a:solidFill>
                <a:latin typeface="Calibri"/>
              </a:rPr>
              <a:t>Template</a:t>
            </a:r>
            <a:r>
              <a:rPr lang="tr-TR" sz="900" b="1" dirty="0">
                <a:solidFill>
                  <a:srgbClr val="021343"/>
                </a:solidFill>
                <a:latin typeface="Calibri"/>
              </a:rPr>
              <a:t>)</a:t>
            </a:r>
            <a:endParaRPr sz="900" b="1" dirty="0">
              <a:solidFill>
                <a:srgbClr val="021343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410968" y="3355848"/>
            <a:ext cx="1804416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9E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dirty="0" err="1">
                <a:solidFill>
                  <a:srgbClr val="021343"/>
                </a:solidFill>
                <a:latin typeface="Calibri"/>
              </a:rPr>
              <a:t>GeneralParameter</a:t>
            </a:r>
            <a:endParaRPr sz="900" b="1" dirty="0">
              <a:solidFill>
                <a:srgbClr val="021343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264152" y="3355848"/>
            <a:ext cx="1804416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9E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021343"/>
                </a:solidFill>
                <a:latin typeface="Calibri"/>
              </a:rPr>
              <a:t>Audit </a:t>
            </a:r>
            <a:r>
              <a:rPr lang="tr-TR" sz="900" b="1">
                <a:solidFill>
                  <a:srgbClr val="021343"/>
                </a:solidFill>
                <a:latin typeface="Calibri"/>
              </a:rPr>
              <a:t>+</a:t>
            </a:r>
            <a:r>
              <a:rPr sz="900" b="1">
                <a:solidFill>
                  <a:srgbClr val="021343"/>
                </a:solidFill>
                <a:latin typeface="Calibri"/>
              </a:rPr>
              <a:t> </a:t>
            </a:r>
            <a:r>
              <a:rPr sz="900" b="1" err="1">
                <a:solidFill>
                  <a:srgbClr val="021343"/>
                </a:solidFill>
                <a:latin typeface="Calibri"/>
              </a:rPr>
              <a:t>Sahiplik</a:t>
            </a:r>
            <a:r>
              <a:rPr lang="tr-TR" sz="900" b="1">
                <a:solidFill>
                  <a:srgbClr val="021343"/>
                </a:solidFill>
              </a:rPr>
              <a:t> + </a:t>
            </a:r>
            <a:r>
              <a:rPr lang="tr-TR" sz="900" b="1" dirty="0" err="1">
                <a:solidFill>
                  <a:srgbClr val="021343"/>
                </a:solidFill>
              </a:rPr>
              <a:t>SoftDelete</a:t>
            </a:r>
            <a:endParaRPr lang="tr-TR" sz="900" b="1" dirty="0">
              <a:solidFill>
                <a:srgbClr val="021343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57784" y="3703320"/>
            <a:ext cx="1804416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9E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dirty="0">
                <a:solidFill>
                  <a:srgbClr val="021343"/>
                </a:solidFill>
                <a:latin typeface="Calibri"/>
              </a:rPr>
              <a:t>Scoped Access Security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10968" y="3703320"/>
            <a:ext cx="1804416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9E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dirty="0">
                <a:solidFill>
                  <a:srgbClr val="021343"/>
                </a:solidFill>
                <a:latin typeface="Calibri"/>
              </a:rPr>
              <a:t>Enriched Logging </a:t>
            </a:r>
            <a:endParaRPr lang="tr-TR" sz="900" b="1" dirty="0">
              <a:solidFill>
                <a:srgbClr val="021343"/>
              </a:solidFill>
              <a:latin typeface="Calibri"/>
            </a:endParaRPr>
          </a:p>
          <a:p>
            <a:pPr algn="ctr"/>
            <a:r>
              <a:rPr sz="600" b="1" dirty="0">
                <a:solidFill>
                  <a:srgbClr val="021343"/>
                </a:solidFill>
                <a:latin typeface="Calibri"/>
              </a:rPr>
              <a:t>(E</a:t>
            </a:r>
            <a:r>
              <a:rPr lang="tr-TR" sz="600" b="1" dirty="0" err="1">
                <a:solidFill>
                  <a:srgbClr val="021343"/>
                </a:solidFill>
                <a:latin typeface="Calibri"/>
              </a:rPr>
              <a:t>lastic</a:t>
            </a:r>
            <a:r>
              <a:rPr lang="tr-TR" sz="600" b="1" dirty="0">
                <a:solidFill>
                  <a:srgbClr val="021343"/>
                </a:solidFill>
                <a:latin typeface="Calibri"/>
              </a:rPr>
              <a:t> </a:t>
            </a:r>
            <a:r>
              <a:rPr sz="600" b="1">
                <a:solidFill>
                  <a:srgbClr val="021343"/>
                </a:solidFill>
                <a:latin typeface="Calibri"/>
              </a:rPr>
              <a:t>S</a:t>
            </a:r>
            <a:r>
              <a:rPr lang="tr-TR" sz="600" b="1">
                <a:solidFill>
                  <a:srgbClr val="021343"/>
                </a:solidFill>
                <a:latin typeface="Calibri"/>
              </a:rPr>
              <a:t>earch</a:t>
            </a:r>
            <a:r>
              <a:rPr sz="600" b="1">
                <a:solidFill>
                  <a:srgbClr val="021343"/>
                </a:solidFill>
                <a:latin typeface="Calibri"/>
              </a:rPr>
              <a:t>+Kibana+File</a:t>
            </a:r>
            <a:r>
              <a:rPr sz="600" b="1" dirty="0">
                <a:solidFill>
                  <a:srgbClr val="021343"/>
                </a:solidFill>
                <a:latin typeface="Calibri"/>
              </a:rPr>
              <a:t>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4152" y="3703320"/>
            <a:ext cx="1804416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9E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err="1">
                <a:solidFill>
                  <a:srgbClr val="021343"/>
                </a:solidFill>
                <a:latin typeface="Calibri"/>
              </a:rPr>
              <a:t>ReferenceResolver</a:t>
            </a:r>
            <a:r>
              <a:rPr sz="900" b="1">
                <a:solidFill>
                  <a:srgbClr val="021343"/>
                </a:solidFill>
                <a:latin typeface="Calibri"/>
              </a:rPr>
              <a:t> + </a:t>
            </a:r>
            <a:r>
              <a:rPr sz="900" b="1" dirty="0">
                <a:solidFill>
                  <a:srgbClr val="021343"/>
                </a:solidFill>
                <a:latin typeface="Calibri"/>
              </a:rPr>
              <a:t>Result&lt;T&gt;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4169664"/>
            <a:ext cx="5577840" cy="292608"/>
          </a:xfrm>
          <a:prstGeom prst="roundRect">
            <a:avLst/>
          </a:prstGeom>
          <a:solidFill>
            <a:srgbClr val="121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Calibri"/>
              </a:rPr>
              <a:t>②  Frontend  (@platform/</a:t>
            </a:r>
            <a:r>
              <a:rPr sz="1100" b="1" dirty="0" err="1">
                <a:solidFill>
                  <a:srgbClr val="FFFFFF"/>
                </a:solidFill>
                <a:latin typeface="Calibri"/>
              </a:rPr>
              <a:t>ui</a:t>
            </a:r>
            <a:r>
              <a:rPr sz="1100" b="1" dirty="0">
                <a:solidFill>
                  <a:srgbClr val="FFFFFF"/>
                </a:solidFill>
                <a:latin typeface="Calibri"/>
              </a:rPr>
              <a:t>)  —  React </a:t>
            </a:r>
            <a:r>
              <a:rPr sz="1100" b="1">
                <a:solidFill>
                  <a:srgbClr val="FFFFFF"/>
                </a:solidFill>
                <a:latin typeface="Calibri"/>
              </a:rPr>
              <a:t>19 + TS + MVI + </a:t>
            </a:r>
            <a:r>
              <a:rPr sz="1100" b="1" dirty="0">
                <a:solidFill>
                  <a:srgbClr val="FFFFFF"/>
                </a:solidFill>
                <a:latin typeface="Calibri"/>
              </a:rPr>
              <a:t>FSD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" y="4873099"/>
            <a:ext cx="1804416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1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21147"/>
                </a:solidFill>
                <a:latin typeface="Calibri"/>
              </a:rPr>
              <a:t>15+ </a:t>
            </a:r>
            <a:r>
              <a:rPr lang="en-US" sz="900" b="1" dirty="0">
                <a:solidFill>
                  <a:srgbClr val="121147"/>
                </a:solidFill>
              </a:rPr>
              <a:t>Primitive </a:t>
            </a:r>
            <a:r>
              <a:rPr sz="900" b="1" dirty="0">
                <a:solidFill>
                  <a:srgbClr val="121147"/>
                </a:solidFill>
                <a:latin typeface="Calibri"/>
              </a:rPr>
              <a:t>Form</a:t>
            </a:r>
            <a:r>
              <a:rPr lang="tr-TR" sz="900" b="1" dirty="0">
                <a:solidFill>
                  <a:srgbClr val="121147"/>
                </a:solidFill>
                <a:latin typeface="Calibri"/>
              </a:rPr>
              <a:t> </a:t>
            </a:r>
            <a:r>
              <a:rPr lang="tr-TR" sz="900" b="1" dirty="0" err="1">
                <a:solidFill>
                  <a:srgbClr val="121147"/>
                </a:solidFill>
                <a:latin typeface="Calibri"/>
              </a:rPr>
              <a:t>Comp</a:t>
            </a:r>
            <a:r>
              <a:rPr lang="tr-TR" sz="900" b="1" dirty="0">
                <a:solidFill>
                  <a:srgbClr val="121147"/>
                </a:solidFill>
                <a:latin typeface="Calibri"/>
              </a:rPr>
              <a:t>.</a:t>
            </a:r>
            <a:endParaRPr sz="900" b="1" dirty="0">
              <a:solidFill>
                <a:srgbClr val="121147"/>
              </a:solidFill>
              <a:latin typeface="Calibr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57784" y="4515830"/>
            <a:ext cx="1804416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1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dirty="0" err="1">
                <a:solidFill>
                  <a:srgbClr val="121147"/>
                </a:solidFill>
                <a:latin typeface="Calibri"/>
              </a:rPr>
              <a:t>DetailPageLayout</a:t>
            </a:r>
            <a:r>
              <a:rPr sz="900" b="1" dirty="0">
                <a:solidFill>
                  <a:srgbClr val="121147"/>
                </a:solidFill>
                <a:latin typeface="Calibri"/>
              </a:rPr>
              <a:t> </a:t>
            </a:r>
            <a:endParaRPr lang="tr-TR" sz="900" b="1" dirty="0">
              <a:solidFill>
                <a:srgbClr val="121147"/>
              </a:solidFill>
              <a:latin typeface="Calibri"/>
            </a:endParaRPr>
          </a:p>
          <a:p>
            <a:pPr algn="ctr"/>
            <a:r>
              <a:rPr sz="600" b="1" dirty="0">
                <a:solidFill>
                  <a:srgbClr val="121147"/>
                </a:solidFill>
                <a:latin typeface="Calibri"/>
              </a:rPr>
              <a:t>(</a:t>
            </a:r>
            <a:r>
              <a:rPr lang="en-US" sz="600" b="1" dirty="0" err="1">
                <a:solidFill>
                  <a:srgbClr val="121147"/>
                </a:solidFill>
              </a:rPr>
              <a:t>FormMode</a:t>
            </a:r>
            <a:r>
              <a:rPr lang="en-US" sz="600" b="1" dirty="0">
                <a:solidFill>
                  <a:srgbClr val="121147"/>
                </a:solidFill>
              </a:rPr>
              <a:t> Aware</a:t>
            </a:r>
            <a:r>
              <a:rPr sz="600" b="1" dirty="0">
                <a:solidFill>
                  <a:srgbClr val="121147"/>
                </a:solidFill>
                <a:latin typeface="Calibri"/>
              </a:rPr>
              <a:t>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10968" y="4515830"/>
            <a:ext cx="1804416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1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dirty="0" err="1">
                <a:solidFill>
                  <a:srgbClr val="121147"/>
                </a:solidFill>
                <a:latin typeface="Calibri"/>
              </a:rPr>
              <a:t>ListPageLayout</a:t>
            </a:r>
            <a:r>
              <a:rPr sz="900" b="1" dirty="0">
                <a:solidFill>
                  <a:srgbClr val="121147"/>
                </a:solidFill>
                <a:latin typeface="Calibri"/>
              </a:rPr>
              <a:t> </a:t>
            </a:r>
            <a:endParaRPr lang="tr-TR" sz="900" b="1" dirty="0">
              <a:solidFill>
                <a:srgbClr val="121147"/>
              </a:solidFill>
              <a:latin typeface="Calibri"/>
            </a:endParaRPr>
          </a:p>
          <a:p>
            <a:pPr algn="ctr"/>
            <a:r>
              <a:rPr sz="600" b="1" dirty="0">
                <a:solidFill>
                  <a:srgbClr val="121147"/>
                </a:solidFill>
                <a:latin typeface="Calibri"/>
              </a:rPr>
              <a:t>(</a:t>
            </a:r>
            <a:r>
              <a:rPr lang="tr-TR" sz="600" b="1" dirty="0" err="1">
                <a:solidFill>
                  <a:srgbClr val="121147"/>
                </a:solidFill>
                <a:latin typeface="Calibri"/>
              </a:rPr>
              <a:t>Filter</a:t>
            </a:r>
            <a:r>
              <a:rPr lang="tr-TR" sz="600" b="1" dirty="0">
                <a:solidFill>
                  <a:srgbClr val="121147"/>
                </a:solidFill>
                <a:latin typeface="Calibri"/>
              </a:rPr>
              <a:t> Sup.</a:t>
            </a:r>
            <a:r>
              <a:rPr sz="600" b="1" dirty="0">
                <a:solidFill>
                  <a:srgbClr val="121147"/>
                </a:solidFill>
                <a:latin typeface="Calibri"/>
              </a:rPr>
              <a:t>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1431" y="4503420"/>
            <a:ext cx="1804416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1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dirty="0">
                <a:solidFill>
                  <a:srgbClr val="121147"/>
                </a:solidFill>
                <a:latin typeface="Calibri"/>
              </a:rPr>
              <a:t> </a:t>
            </a:r>
            <a:r>
              <a:rPr lang="tr-TR" sz="900" b="1" dirty="0">
                <a:solidFill>
                  <a:srgbClr val="121147"/>
                </a:solidFill>
                <a:latin typeface="Calibri"/>
              </a:rPr>
              <a:t>Multi Language</a:t>
            </a:r>
          </a:p>
          <a:p>
            <a:pPr algn="ctr"/>
            <a:r>
              <a:rPr lang="tr-TR" sz="600" b="1" dirty="0">
                <a:solidFill>
                  <a:srgbClr val="121147"/>
                </a:solidFill>
                <a:latin typeface="Calibri"/>
              </a:rPr>
              <a:t>(i18n)</a:t>
            </a:r>
            <a:endParaRPr sz="600" b="1" dirty="0">
              <a:solidFill>
                <a:srgbClr val="121147"/>
              </a:solidFill>
              <a:latin typeface="Calibr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410968" y="4882896"/>
            <a:ext cx="1804416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1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tr-TR" sz="900" b="1" dirty="0" err="1">
                <a:solidFill>
                  <a:srgbClr val="121147"/>
                </a:solidFill>
                <a:latin typeface="Calibri"/>
              </a:rPr>
              <a:t>Complex</a:t>
            </a:r>
            <a:r>
              <a:rPr lang="tr-TR" sz="900" b="1" dirty="0">
                <a:solidFill>
                  <a:srgbClr val="121147"/>
                </a:solidFill>
                <a:latin typeface="Calibri"/>
              </a:rPr>
              <a:t> Form </a:t>
            </a:r>
            <a:r>
              <a:rPr lang="tr-TR" sz="900" b="1" dirty="0" err="1">
                <a:solidFill>
                  <a:srgbClr val="121147"/>
                </a:solidFill>
                <a:latin typeface="Calibri"/>
              </a:rPr>
              <a:t>Comp</a:t>
            </a:r>
            <a:r>
              <a:rPr lang="tr-TR" sz="900" b="1" dirty="0">
                <a:solidFill>
                  <a:srgbClr val="121147"/>
                </a:solidFill>
                <a:latin typeface="Calibri"/>
              </a:rPr>
              <a:t>.</a:t>
            </a:r>
          </a:p>
          <a:p>
            <a:pPr algn="ctr"/>
            <a:r>
              <a:rPr sz="600" b="1" err="1">
                <a:solidFill>
                  <a:srgbClr val="121147"/>
                </a:solidFill>
                <a:latin typeface="Calibri"/>
              </a:rPr>
              <a:t>RichTextEditor</a:t>
            </a:r>
            <a:r>
              <a:rPr sz="600" b="1">
                <a:solidFill>
                  <a:srgbClr val="121147"/>
                </a:solidFill>
                <a:latin typeface="Calibri"/>
              </a:rPr>
              <a:t> + </a:t>
            </a:r>
            <a:r>
              <a:rPr sz="600" b="1" dirty="0">
                <a:solidFill>
                  <a:srgbClr val="121147"/>
                </a:solidFill>
                <a:latin typeface="Calibri"/>
              </a:rPr>
              <a:t>Attachment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64152" y="4882896"/>
            <a:ext cx="1804416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1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dirty="0">
                <a:solidFill>
                  <a:srgbClr val="121147"/>
                </a:solidFill>
                <a:latin typeface="Calibri"/>
              </a:rPr>
              <a:t>Lookup</a:t>
            </a:r>
            <a:r>
              <a:rPr lang="tr-TR" sz="900" b="1" dirty="0">
                <a:solidFill>
                  <a:srgbClr val="121147"/>
                </a:solidFill>
                <a:latin typeface="Calibri"/>
              </a:rPr>
              <a:t>/</a:t>
            </a:r>
            <a:r>
              <a:rPr lang="tr-TR" sz="900" b="1" dirty="0" err="1">
                <a:solidFill>
                  <a:srgbClr val="121147"/>
                </a:solidFill>
                <a:latin typeface="Calibri"/>
              </a:rPr>
              <a:t>Search</a:t>
            </a:r>
            <a:r>
              <a:rPr lang="tr-TR" sz="900" b="1" dirty="0">
                <a:solidFill>
                  <a:srgbClr val="121147"/>
                </a:solidFill>
                <a:latin typeface="Calibri"/>
              </a:rPr>
              <a:t> </a:t>
            </a:r>
            <a:r>
              <a:rPr lang="tr-TR" sz="900" b="1" dirty="0" err="1">
                <a:solidFill>
                  <a:srgbClr val="121147"/>
                </a:solidFill>
                <a:latin typeface="Calibri"/>
              </a:rPr>
              <a:t>Refrence</a:t>
            </a:r>
            <a:endParaRPr sz="900" b="1" dirty="0">
              <a:solidFill>
                <a:srgbClr val="121147"/>
              </a:solidFill>
              <a:latin typeface="Calibri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57784" y="5230368"/>
            <a:ext cx="1804416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1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err="1">
                <a:solidFill>
                  <a:srgbClr val="121147"/>
                </a:solidFill>
                <a:latin typeface="Calibri"/>
              </a:rPr>
              <a:t>DataTable</a:t>
            </a:r>
            <a:r>
              <a:rPr sz="900" b="1">
                <a:solidFill>
                  <a:srgbClr val="121147"/>
                </a:solidFill>
                <a:latin typeface="Calibri"/>
              </a:rPr>
              <a:t> + </a:t>
            </a:r>
            <a:r>
              <a:rPr sz="900" b="1" dirty="0" err="1">
                <a:solidFill>
                  <a:srgbClr val="121147"/>
                </a:solidFill>
                <a:latin typeface="Calibri"/>
              </a:rPr>
              <a:t>FormSection</a:t>
            </a:r>
            <a:endParaRPr sz="900" b="1" dirty="0">
              <a:solidFill>
                <a:srgbClr val="121147"/>
              </a:solidFill>
              <a:latin typeface="Calibri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2410968" y="5230368"/>
            <a:ext cx="1804416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1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tr-TR" sz="900" b="1" dirty="0">
                <a:solidFill>
                  <a:srgbClr val="121147"/>
                </a:solidFill>
                <a:latin typeface="Calibri"/>
              </a:rPr>
              <a:t>Client </a:t>
            </a:r>
            <a:r>
              <a:rPr lang="tr-TR" sz="900" b="1" err="1">
                <a:solidFill>
                  <a:srgbClr val="121147"/>
                </a:solidFill>
                <a:latin typeface="Calibri"/>
              </a:rPr>
              <a:t>Caching</a:t>
            </a:r>
            <a:r>
              <a:rPr lang="tr-TR" sz="900" b="1">
                <a:solidFill>
                  <a:srgbClr val="121147"/>
                </a:solidFill>
                <a:latin typeface="Calibri"/>
              </a:rPr>
              <a:t> + </a:t>
            </a:r>
            <a:r>
              <a:rPr lang="tr-TR" sz="900" b="1" dirty="0" err="1">
                <a:solidFill>
                  <a:srgbClr val="121147"/>
                </a:solidFill>
                <a:latin typeface="Calibri"/>
              </a:rPr>
              <a:t>Validation</a:t>
            </a:r>
            <a:r>
              <a:rPr lang="tr-TR" sz="900" b="1" dirty="0">
                <a:solidFill>
                  <a:srgbClr val="121147"/>
                </a:solidFill>
                <a:latin typeface="Calibri"/>
              </a:rPr>
              <a:t> </a:t>
            </a:r>
          </a:p>
          <a:p>
            <a:pPr algn="ctr"/>
            <a:r>
              <a:rPr lang="tr-TR" sz="600" b="1" dirty="0">
                <a:solidFill>
                  <a:srgbClr val="121147"/>
                </a:solidFill>
                <a:latin typeface="Calibri"/>
              </a:rPr>
              <a:t>(</a:t>
            </a:r>
            <a:r>
              <a:rPr sz="600" b="1" dirty="0" err="1">
                <a:solidFill>
                  <a:srgbClr val="121147"/>
                </a:solidFill>
                <a:latin typeface="Calibri"/>
              </a:rPr>
              <a:t>TanStack</a:t>
            </a:r>
            <a:r>
              <a:rPr sz="600" b="1" dirty="0">
                <a:solidFill>
                  <a:srgbClr val="121147"/>
                </a:solidFill>
                <a:latin typeface="Calibri"/>
              </a:rPr>
              <a:t> </a:t>
            </a:r>
            <a:r>
              <a:rPr sz="600" b="1">
                <a:solidFill>
                  <a:srgbClr val="121147"/>
                </a:solidFill>
                <a:latin typeface="Calibri"/>
              </a:rPr>
              <a:t>Query + </a:t>
            </a:r>
            <a:r>
              <a:rPr sz="600" b="1" dirty="0" err="1">
                <a:solidFill>
                  <a:srgbClr val="121147"/>
                </a:solidFill>
                <a:latin typeface="Calibri"/>
              </a:rPr>
              <a:t>zod</a:t>
            </a:r>
            <a:r>
              <a:rPr lang="tr-TR" sz="600" b="1" dirty="0">
                <a:solidFill>
                  <a:srgbClr val="121147"/>
                </a:solidFill>
                <a:latin typeface="Calibri"/>
              </a:rPr>
              <a:t>)</a:t>
            </a:r>
            <a:endParaRPr sz="600" b="1" dirty="0">
              <a:solidFill>
                <a:srgbClr val="121147"/>
              </a:solidFill>
              <a:latin typeface="Calibri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264152" y="5230368"/>
            <a:ext cx="1804416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1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tr-TR" sz="900" b="1" dirty="0">
                <a:solidFill>
                  <a:srgbClr val="121147"/>
                </a:solidFill>
                <a:latin typeface="Calibri"/>
              </a:rPr>
              <a:t>Login (</a:t>
            </a:r>
            <a:r>
              <a:rPr sz="900" b="1" dirty="0">
                <a:solidFill>
                  <a:srgbClr val="121147"/>
                </a:solidFill>
                <a:latin typeface="Calibri"/>
              </a:rPr>
              <a:t>Auth</a:t>
            </a:r>
            <a:r>
              <a:rPr lang="tr-TR" sz="900" b="1">
                <a:solidFill>
                  <a:srgbClr val="121147"/>
                </a:solidFill>
                <a:latin typeface="Calibri"/>
              </a:rPr>
              <a:t>)</a:t>
            </a:r>
            <a:r>
              <a:rPr sz="900" b="1">
                <a:solidFill>
                  <a:srgbClr val="121147"/>
                </a:solidFill>
                <a:latin typeface="Calibri"/>
              </a:rPr>
              <a:t> + </a:t>
            </a:r>
            <a:r>
              <a:rPr sz="900" b="1" dirty="0">
                <a:solidFill>
                  <a:srgbClr val="121147"/>
                </a:solidFill>
                <a:latin typeface="Calibri"/>
              </a:rPr>
              <a:t>Routing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2240280"/>
            <a:ext cx="5440680" cy="365760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069E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355080" y="1632204"/>
            <a:ext cx="5440680" cy="502920"/>
          </a:xfrm>
          <a:prstGeom prst="roundRect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Calibri"/>
              </a:rPr>
              <a:t>APPS  (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Müşteri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Domaini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15100" y="2633472"/>
            <a:ext cx="25146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9E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515100" y="2903220"/>
            <a:ext cx="2514600" cy="274320"/>
          </a:xfrm>
          <a:prstGeom prst="roundRect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5100" y="3314700"/>
            <a:ext cx="2514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dirty="0">
                <a:solidFill>
                  <a:srgbClr val="1F2937"/>
                </a:solidFill>
                <a:latin typeface="Calibri"/>
              </a:rPr>
              <a:t>Account, Contact,</a:t>
            </a:r>
          </a:p>
          <a:p>
            <a:pPr algn="ctr"/>
            <a:r>
              <a:rPr sz="1000" b="0" dirty="0">
                <a:solidFill>
                  <a:srgbClr val="1F2937"/>
                </a:solidFill>
                <a:latin typeface="Calibri"/>
              </a:rPr>
              <a:t>Lead, Opportunity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0" y="2641963"/>
            <a:ext cx="25146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9E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155430" y="2901261"/>
            <a:ext cx="2514600" cy="274320"/>
          </a:xfrm>
          <a:prstGeom prst="roundRect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CodePro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66860" y="331470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dirty="0">
                <a:solidFill>
                  <a:srgbClr val="1F2937"/>
                </a:solidFill>
                <a:latin typeface="Calibri"/>
              </a:rPr>
              <a:t>Supplier, Order,</a:t>
            </a:r>
          </a:p>
          <a:p>
            <a:pPr algn="ctr"/>
            <a:r>
              <a:rPr sz="1000" b="0" dirty="0">
                <a:solidFill>
                  <a:srgbClr val="1F2937"/>
                </a:solidFill>
                <a:latin typeface="Calibri"/>
              </a:rPr>
              <a:t>Budget, Contract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15100" y="4187952"/>
            <a:ext cx="25146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515100" y="4442841"/>
            <a:ext cx="2514600" cy="27432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Müşteri App #1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7955" y="4873099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Müşteriye özel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entity &amp; sayfalar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55430" y="4164439"/>
            <a:ext cx="25146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9155430" y="4460966"/>
            <a:ext cx="2514600" cy="27432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Müşteri App #2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66860" y="4824113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Müşteriye özel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entity &amp; sayfalar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" y="5989320"/>
            <a:ext cx="11430000" cy="45720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Calibri"/>
              </a:rPr>
              <a:t>Backend: .NET </a:t>
            </a:r>
            <a:r>
              <a:rPr sz="1100" b="1">
                <a:solidFill>
                  <a:srgbClr val="FFFFFF"/>
                </a:solidFill>
                <a:latin typeface="Calibri"/>
              </a:rPr>
              <a:t>10 + </a:t>
            </a:r>
            <a:r>
              <a:rPr sz="1100" b="1" dirty="0">
                <a:solidFill>
                  <a:srgbClr val="FFFFFF"/>
                </a:solidFill>
                <a:latin typeface="Calibri"/>
              </a:rPr>
              <a:t>Clean </a:t>
            </a:r>
            <a:r>
              <a:rPr sz="1100" b="1">
                <a:solidFill>
                  <a:srgbClr val="FFFFFF"/>
                </a:solidFill>
                <a:latin typeface="Calibri"/>
              </a:rPr>
              <a:t>Arch + CQRS + </a:t>
            </a:r>
            <a:r>
              <a:rPr sz="1100" b="1" dirty="0">
                <a:solidFill>
                  <a:srgbClr val="FFFFFF"/>
                </a:solidFill>
                <a:latin typeface="Calibri"/>
              </a:rPr>
              <a:t>EF Core    |    Frontend: React </a:t>
            </a:r>
            <a:r>
              <a:rPr sz="1100" b="1">
                <a:solidFill>
                  <a:srgbClr val="FFFFFF"/>
                </a:solidFill>
                <a:latin typeface="Calibri"/>
              </a:rPr>
              <a:t>19 + TS + FSD + </a:t>
            </a:r>
            <a:r>
              <a:rPr sz="1100" b="1" dirty="0" err="1">
                <a:solidFill>
                  <a:srgbClr val="FFFFFF"/>
                </a:solidFill>
                <a:latin typeface="Calibri"/>
              </a:rPr>
              <a:t>TanStack</a:t>
            </a:r>
            <a:r>
              <a:rPr sz="1100" b="1" dirty="0">
                <a:solidFill>
                  <a:srgbClr val="FFFFFF"/>
                </a:solidFill>
                <a:latin typeface="Calibri"/>
              </a:rPr>
              <a:t> Query    |    Data: </a:t>
            </a:r>
            <a:r>
              <a:rPr sz="1100" b="1">
                <a:solidFill>
                  <a:srgbClr val="FFFFFF"/>
                </a:solidFill>
                <a:latin typeface="Calibri"/>
              </a:rPr>
              <a:t>PostgreSQL + </a:t>
            </a:r>
            <a:r>
              <a:rPr sz="1100" b="1" dirty="0">
                <a:solidFill>
                  <a:srgbClr val="FFFFFF"/>
                </a:solidFill>
                <a:latin typeface="Calibri"/>
              </a:rPr>
              <a:t>Elasticsearch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537960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 err="1">
                <a:solidFill>
                  <a:srgbClr val="6B7280"/>
                </a:solidFill>
                <a:latin typeface="Calibri"/>
              </a:rPr>
              <a:t>Codeliman</a:t>
            </a:r>
            <a:r>
              <a:rPr sz="1000" b="0" dirty="0">
                <a:solidFill>
                  <a:srgbClr val="6B7280"/>
                </a:solidFill>
                <a:latin typeface="Calibri"/>
              </a:rPr>
              <a:t>  •  </a:t>
            </a:r>
            <a:r>
              <a:rPr lang="en-US" sz="1000" b="0" dirty="0" err="1">
                <a:solidFill>
                  <a:srgbClr val="6B7280"/>
                </a:solidFill>
                <a:latin typeface="Calibri"/>
              </a:rPr>
              <a:t>PlatformSuite</a:t>
            </a:r>
            <a:r>
              <a:rPr lang="en-US" sz="10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b="0" dirty="0">
                <a:solidFill>
                  <a:srgbClr val="6B7280"/>
                </a:solidFill>
                <a:latin typeface="Calibri"/>
              </a:rPr>
              <a:t>•  Haziran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21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Box"/>
          <p:cNvSpPr txBox="1"/>
          <p:nvPr/>
        </p:nvSpPr>
        <p:spPr>
          <a:xfrm>
            <a:off x="457200" y="137160"/>
            <a:ext cx="1127729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tr-TR" sz="2600" b="1" dirty="0">
                <a:solidFill>
                  <a:srgbClr val="FFFFFF"/>
                </a:solidFill>
                <a:latin typeface="Calibri"/>
              </a:rPr>
              <a:t>Platform API — Hazır Backend Yetenekleri</a:t>
            </a:r>
          </a:p>
        </p:txBody>
      </p:sp>
      <p:sp>
        <p:nvSpPr>
          <p:cNvPr id="4" name="SubtitleBox"/>
          <p:cNvSpPr txBox="1"/>
          <p:nvPr/>
        </p:nvSpPr>
        <p:spPr>
          <a:xfrm>
            <a:off x="457200" y="50292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400" b="0" dirty="0">
                <a:solidFill>
                  <a:srgbClr val="EFF6FF"/>
                </a:solidFill>
                <a:latin typeface="Calibri"/>
              </a:rPr>
              <a:t>.NET 10  ·  Clean Architecture  ·  MediatR / CQRS  ·  EF Core 10  ·  PostgreSQL</a:t>
            </a:r>
          </a:p>
        </p:txBody>
      </p:sp>
      <p:sp>
        <p:nvSpPr>
          <p:cNvPr id="5" name="HeaderAccent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ard0"/>
          <p:cNvSpPr/>
          <p:nvPr/>
        </p:nvSpPr>
        <p:spPr>
          <a:xfrm>
            <a:off x="320040" y="1097280"/>
            <a:ext cx="283464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1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ardTitle0"/>
          <p:cNvSpPr txBox="1"/>
          <p:nvPr/>
        </p:nvSpPr>
        <p:spPr>
          <a:xfrm>
            <a:off x="548640" y="1260866"/>
            <a:ext cx="23774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300" b="1" dirty="0">
                <a:solidFill>
                  <a:srgbClr val="021343"/>
                </a:solidFill>
                <a:latin typeface="Calibri"/>
              </a:rPr>
              <a:t>Auth + JWT / SSO</a:t>
            </a:r>
          </a:p>
        </p:txBody>
      </p:sp>
      <p:sp>
        <p:nvSpPr>
          <p:cNvPr id="8" name="CardBody0"/>
          <p:cNvSpPr txBox="1"/>
          <p:nvPr/>
        </p:nvSpPr>
        <p:spPr>
          <a:xfrm>
            <a:off x="548640" y="2194560"/>
            <a:ext cx="2377440" cy="11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Token tabanlı oturum,</a:t>
            </a:r>
          </a:p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refresh akışı, SSO ile</a:t>
            </a:r>
          </a:p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kurumsal kimlik entegrasyonu.</a:t>
            </a:r>
          </a:p>
        </p:txBody>
      </p:sp>
      <p:sp>
        <p:nvSpPr>
          <p:cNvPr id="9" name="Card1"/>
          <p:cNvSpPr/>
          <p:nvPr/>
        </p:nvSpPr>
        <p:spPr>
          <a:xfrm>
            <a:off x="3291840" y="1097280"/>
            <a:ext cx="283464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75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ardTitle1"/>
          <p:cNvSpPr txBox="1"/>
          <p:nvPr/>
        </p:nvSpPr>
        <p:spPr>
          <a:xfrm>
            <a:off x="3520440" y="1260866"/>
            <a:ext cx="23774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300" b="1" dirty="0">
                <a:solidFill>
                  <a:srgbClr val="2575FC"/>
                </a:solidFill>
                <a:latin typeface="Calibri"/>
              </a:rPr>
              <a:t>Privilege / RBAC</a:t>
            </a:r>
          </a:p>
        </p:txBody>
      </p:sp>
      <p:sp>
        <p:nvSpPr>
          <p:cNvPr id="11" name="CardBody1"/>
          <p:cNvSpPr txBox="1"/>
          <p:nvPr/>
        </p:nvSpPr>
        <p:spPr>
          <a:xfrm>
            <a:off x="3520440" y="2194560"/>
            <a:ext cx="2377440" cy="11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Her endpoint koruma altında;</a:t>
            </a:r>
          </a:p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[PrivilegeAuthorize] attribute'u</a:t>
            </a:r>
          </a:p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ile ince taneli yetki kontrolü.</a:t>
            </a:r>
          </a:p>
        </p:txBody>
      </p:sp>
      <p:sp>
        <p:nvSpPr>
          <p:cNvPr id="12" name="Card2"/>
          <p:cNvSpPr/>
          <p:nvPr/>
        </p:nvSpPr>
        <p:spPr>
          <a:xfrm>
            <a:off x="6263640" y="1097280"/>
            <a:ext cx="283464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21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ardTitle2"/>
          <p:cNvSpPr txBox="1"/>
          <p:nvPr/>
        </p:nvSpPr>
        <p:spPr>
          <a:xfrm>
            <a:off x="6492240" y="1260866"/>
            <a:ext cx="23774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300" b="1" dirty="0">
                <a:solidFill>
                  <a:srgbClr val="121147"/>
                </a:solidFill>
                <a:latin typeface="Calibri"/>
              </a:rPr>
              <a:t>Activity Engine</a:t>
            </a:r>
          </a:p>
        </p:txBody>
      </p:sp>
      <p:sp>
        <p:nvSpPr>
          <p:cNvPr id="14" name="CardBody2"/>
          <p:cNvSpPr txBox="1"/>
          <p:nvPr/>
        </p:nvSpPr>
        <p:spPr>
          <a:xfrm>
            <a:off x="6492240" y="2194560"/>
            <a:ext cx="2377440" cy="11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Telefon · E-posta · Görev · Randevu.</a:t>
            </a:r>
          </a:p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Polimorfik regarding ile</a:t>
            </a:r>
          </a:p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her entity'ye bağlanır.</a:t>
            </a:r>
          </a:p>
        </p:txBody>
      </p:sp>
      <p:sp>
        <p:nvSpPr>
          <p:cNvPr id="15" name="Card3"/>
          <p:cNvSpPr/>
          <p:nvPr/>
        </p:nvSpPr>
        <p:spPr>
          <a:xfrm>
            <a:off x="9235440" y="1097280"/>
            <a:ext cx="283464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4A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rdTitle3"/>
          <p:cNvSpPr txBox="1"/>
          <p:nvPr/>
        </p:nvSpPr>
        <p:spPr>
          <a:xfrm>
            <a:off x="9464040" y="1260866"/>
            <a:ext cx="23774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300" b="1" dirty="0">
                <a:solidFill>
                  <a:srgbClr val="54ADD3"/>
                </a:solidFill>
                <a:latin typeface="Calibri"/>
              </a:rPr>
              <a:t>Document &amp; Template</a:t>
            </a:r>
          </a:p>
        </p:txBody>
      </p:sp>
      <p:sp>
        <p:nvSpPr>
          <p:cNvPr id="17" name="CardBody3"/>
          <p:cNvSpPr txBox="1"/>
          <p:nvPr/>
        </p:nvSpPr>
        <p:spPr>
          <a:xfrm>
            <a:off x="9464040" y="2194560"/>
            <a:ext cx="2377440" cy="11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Attachment altyapısı + sözleşme /</a:t>
            </a:r>
          </a:p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e-posta şablon motoru;</a:t>
            </a:r>
          </a:p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CDN dostu dosya yönetimi.</a:t>
            </a:r>
          </a:p>
        </p:txBody>
      </p:sp>
      <p:sp>
        <p:nvSpPr>
          <p:cNvPr id="18" name="Card4"/>
          <p:cNvSpPr/>
          <p:nvPr/>
        </p:nvSpPr>
        <p:spPr>
          <a:xfrm>
            <a:off x="320040" y="3749040"/>
            <a:ext cx="283464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ardTitle4"/>
          <p:cNvSpPr txBox="1"/>
          <p:nvPr/>
        </p:nvSpPr>
        <p:spPr>
          <a:xfrm>
            <a:off x="548640" y="3912626"/>
            <a:ext cx="23774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300" b="1" dirty="0">
                <a:solidFill>
                  <a:srgbClr val="00282A"/>
                </a:solidFill>
                <a:latin typeface="Calibri"/>
              </a:rPr>
              <a:t>GeneralParameter</a:t>
            </a:r>
          </a:p>
        </p:txBody>
      </p:sp>
      <p:sp>
        <p:nvSpPr>
          <p:cNvPr id="20" name="CardBody4"/>
          <p:cNvSpPr txBox="1"/>
          <p:nvPr/>
        </p:nvSpPr>
        <p:spPr>
          <a:xfrm>
            <a:off x="548640" y="4846320"/>
            <a:ext cx="2377440" cy="11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DB tabanlı dinamik enum.</a:t>
            </a:r>
          </a:p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Yeni parametre eklemek için</a:t>
            </a:r>
          </a:p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kod deploy gerekmez.</a:t>
            </a:r>
          </a:p>
        </p:txBody>
      </p:sp>
      <p:sp>
        <p:nvSpPr>
          <p:cNvPr id="21" name="Card5"/>
          <p:cNvSpPr/>
          <p:nvPr/>
        </p:nvSpPr>
        <p:spPr>
          <a:xfrm>
            <a:off x="3291840" y="3749040"/>
            <a:ext cx="283464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9E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ardTitle5"/>
          <p:cNvSpPr txBox="1"/>
          <p:nvPr/>
        </p:nvSpPr>
        <p:spPr>
          <a:xfrm>
            <a:off x="3520440" y="3912626"/>
            <a:ext cx="23774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300" b="1" dirty="0">
                <a:solidFill>
                  <a:srgbClr val="069E49"/>
                </a:solidFill>
                <a:latin typeface="Calibri"/>
              </a:rPr>
              <a:t>Audit &amp; SoftDelete</a:t>
            </a:r>
          </a:p>
        </p:txBody>
      </p:sp>
      <p:sp>
        <p:nvSpPr>
          <p:cNvPr id="23" name="CardBody5"/>
          <p:cNvSpPr txBox="1"/>
          <p:nvPr/>
        </p:nvSpPr>
        <p:spPr>
          <a:xfrm>
            <a:off x="3520440" y="4846320"/>
            <a:ext cx="2377440" cy="11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CreatedBy / ModifiedBy / Owner</a:t>
            </a:r>
          </a:p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otomatik tutulur; kayıtlar fiziksel</a:t>
            </a:r>
          </a:p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silinmez, IsDeleted ile işaretlenir.</a:t>
            </a:r>
          </a:p>
        </p:txBody>
      </p:sp>
      <p:sp>
        <p:nvSpPr>
          <p:cNvPr id="24" name="Card6"/>
          <p:cNvSpPr/>
          <p:nvPr/>
        </p:nvSpPr>
        <p:spPr>
          <a:xfrm>
            <a:off x="6263640" y="3749040"/>
            <a:ext cx="283464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ardTitle6"/>
          <p:cNvSpPr txBox="1"/>
          <p:nvPr/>
        </p:nvSpPr>
        <p:spPr>
          <a:xfrm>
            <a:off x="6492240" y="3912626"/>
            <a:ext cx="23774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300" b="1" dirty="0">
                <a:solidFill>
                  <a:srgbClr val="007BFF"/>
                </a:solidFill>
                <a:latin typeface="Calibri"/>
              </a:rPr>
              <a:t>Scoped Access Security</a:t>
            </a:r>
          </a:p>
        </p:txBody>
      </p:sp>
      <p:sp>
        <p:nvSpPr>
          <p:cNvPr id="26" name="CardBody6"/>
          <p:cNvSpPr txBox="1"/>
          <p:nvPr/>
        </p:nvSpPr>
        <p:spPr>
          <a:xfrm>
            <a:off x="6492240" y="4846320"/>
            <a:ext cx="2377440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Sahiplik bazlı filtreleme:</a:t>
            </a:r>
          </a:p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Global / Org / User seviyesinde</a:t>
            </a:r>
          </a:p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veri erişimi yerleşik.</a:t>
            </a:r>
          </a:p>
        </p:txBody>
      </p:sp>
      <p:sp>
        <p:nvSpPr>
          <p:cNvPr id="27" name="Card7"/>
          <p:cNvSpPr/>
          <p:nvPr/>
        </p:nvSpPr>
        <p:spPr>
          <a:xfrm>
            <a:off x="9235440" y="3749040"/>
            <a:ext cx="283464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E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CardTitle7"/>
          <p:cNvSpPr txBox="1"/>
          <p:nvPr/>
        </p:nvSpPr>
        <p:spPr>
          <a:xfrm>
            <a:off x="9464040" y="3912626"/>
            <a:ext cx="23774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300" b="1" dirty="0">
                <a:solidFill>
                  <a:srgbClr val="5E6D7E"/>
                </a:solidFill>
                <a:latin typeface="Calibri"/>
              </a:rPr>
              <a:t>Logging + Result&lt;T&gt;</a:t>
            </a:r>
          </a:p>
        </p:txBody>
      </p:sp>
      <p:sp>
        <p:nvSpPr>
          <p:cNvPr id="29" name="CardBody7"/>
          <p:cNvSpPr txBox="1"/>
          <p:nvPr/>
        </p:nvSpPr>
        <p:spPr>
          <a:xfrm>
            <a:off x="9464040" y="4846320"/>
            <a:ext cx="2377440" cy="846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Elasticsearch + Kibana + File log,</a:t>
            </a:r>
          </a:p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Kullanıcı ve işlem (</a:t>
            </a:r>
            <a:r>
              <a:rPr lang="tr-TR" sz="1100" b="0" dirty="0" err="1">
                <a:solidFill>
                  <a:srgbClr val="1F2937"/>
                </a:solidFill>
                <a:latin typeface="Calibri"/>
              </a:rPr>
              <a:t>Correlation</a:t>
            </a:r>
            <a:r>
              <a:rPr lang="tr-TR" sz="1100" b="0" dirty="0">
                <a:solidFill>
                  <a:srgbClr val="1F2937"/>
                </a:solidFill>
                <a:latin typeface="Calibri"/>
              </a:rPr>
              <a:t> ID) imzası taşıyan zengin içerikli Log Kayıtları; </a:t>
            </a:r>
          </a:p>
          <a:p>
            <a:pPr algn="l"/>
            <a:r>
              <a:rPr lang="tr-TR" sz="1100" dirty="0" err="1">
                <a:solidFill>
                  <a:srgbClr val="1F2937"/>
                </a:solidFill>
                <a:latin typeface="Calibri"/>
              </a:rPr>
              <a:t>Process</a:t>
            </a:r>
            <a:r>
              <a:rPr lang="tr-TR" sz="1100" dirty="0">
                <a:solidFill>
                  <a:srgbClr val="1F2937"/>
                </a:solidFill>
                <a:latin typeface="Calibri"/>
              </a:rPr>
              <a:t> </a:t>
            </a:r>
            <a:r>
              <a:rPr lang="tr-TR" sz="1100" dirty="0" err="1">
                <a:solidFill>
                  <a:srgbClr val="1F2937"/>
                </a:solidFill>
                <a:latin typeface="Calibri"/>
              </a:rPr>
              <a:t>H</a:t>
            </a:r>
            <a:r>
              <a:rPr lang="tr-TR" sz="1100" b="0" dirty="0" err="1">
                <a:solidFill>
                  <a:srgbClr val="1F2937"/>
                </a:solidFill>
                <a:latin typeface="Calibri"/>
              </a:rPr>
              <a:t>andler’lar</a:t>
            </a:r>
            <a:r>
              <a:rPr lang="tr-TR" sz="1100" b="0" dirty="0">
                <a:solidFill>
                  <a:srgbClr val="1F2937"/>
                </a:solidFill>
                <a:latin typeface="Calibri"/>
              </a:rPr>
              <a:t> </a:t>
            </a:r>
            <a:r>
              <a:rPr lang="tr-TR" sz="1100" b="0" dirty="0" err="1">
                <a:solidFill>
                  <a:srgbClr val="1F2937"/>
                </a:solidFill>
                <a:latin typeface="Calibri"/>
              </a:rPr>
              <a:t>exception</a:t>
            </a:r>
            <a:r>
              <a:rPr lang="tr-TR" sz="1100" b="0" dirty="0">
                <a:solidFill>
                  <a:srgbClr val="1F2937"/>
                </a:solidFill>
                <a:latin typeface="Calibri"/>
              </a:rPr>
              <a:t> yerine Result döner.</a:t>
            </a:r>
          </a:p>
        </p:txBody>
      </p:sp>
      <p:sp>
        <p:nvSpPr>
          <p:cNvPr id="30" name="FooterLeft"/>
          <p:cNvSpPr txBox="1"/>
          <p:nvPr/>
        </p:nvSpPr>
        <p:spPr>
          <a:xfrm>
            <a:off x="457200" y="6537960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000" b="0" dirty="0">
                <a:solidFill>
                  <a:srgbClr val="6B7280"/>
                </a:solidFill>
                <a:latin typeface="Calibri"/>
              </a:rPr>
              <a:t>Codeliman  •  </a:t>
            </a:r>
            <a:r>
              <a:rPr lang="tr-TR" sz="1000" b="0" dirty="0" err="1">
                <a:solidFill>
                  <a:srgbClr val="6B7280"/>
                </a:solidFill>
                <a:latin typeface="Calibri"/>
              </a:rPr>
              <a:t>PlatformSuite</a:t>
            </a:r>
            <a:r>
              <a:rPr lang="tr-TR" sz="1000" b="0" dirty="0">
                <a:solidFill>
                  <a:srgbClr val="6B7280"/>
                </a:solidFill>
                <a:latin typeface="Calibri"/>
              </a:rPr>
              <a:t> •  Haziran 2026</a:t>
            </a:r>
          </a:p>
        </p:txBody>
      </p:sp>
      <p:sp>
        <p:nvSpPr>
          <p:cNvPr id="31" name="FooterRight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tr-TR" sz="1000" b="0" dirty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21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Box"/>
          <p:cNvSpPr txBox="1"/>
          <p:nvPr/>
        </p:nvSpPr>
        <p:spPr>
          <a:xfrm>
            <a:off x="457200" y="137160"/>
            <a:ext cx="1127729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tr-TR" sz="2600" b="1" dirty="0">
                <a:solidFill>
                  <a:srgbClr val="FFFFFF"/>
                </a:solidFill>
                <a:latin typeface="Calibri"/>
              </a:rPr>
              <a:t>Frontend — Hazır UI Yetenekleri</a:t>
            </a:r>
          </a:p>
        </p:txBody>
      </p:sp>
      <p:sp>
        <p:nvSpPr>
          <p:cNvPr id="4" name="SubtitleBox"/>
          <p:cNvSpPr txBox="1"/>
          <p:nvPr/>
        </p:nvSpPr>
        <p:spPr>
          <a:xfrm>
            <a:off x="457200" y="50292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400" b="0" dirty="0">
                <a:solidFill>
                  <a:srgbClr val="EFF6FF"/>
                </a:solidFill>
                <a:latin typeface="Calibri"/>
              </a:rPr>
              <a:t>React 19  ·  TypeScript  ·  MVI + Feature-Sliced Design  ·  TanStack Query  ·  zod</a:t>
            </a:r>
          </a:p>
        </p:txBody>
      </p:sp>
      <p:sp>
        <p:nvSpPr>
          <p:cNvPr id="5" name="HeaderAccent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ard0"/>
          <p:cNvSpPr/>
          <p:nvPr/>
        </p:nvSpPr>
        <p:spPr>
          <a:xfrm>
            <a:off x="320040" y="1097280"/>
            <a:ext cx="283464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1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ardTitle0"/>
          <p:cNvSpPr txBox="1"/>
          <p:nvPr/>
        </p:nvSpPr>
        <p:spPr>
          <a:xfrm>
            <a:off x="548640" y="1260866"/>
            <a:ext cx="23774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300" b="1" dirty="0">
                <a:solidFill>
                  <a:srgbClr val="021343"/>
                </a:solidFill>
                <a:latin typeface="Calibri"/>
              </a:rPr>
              <a:t>15+ Form Primitifi</a:t>
            </a:r>
          </a:p>
        </p:txBody>
      </p:sp>
      <p:sp>
        <p:nvSpPr>
          <p:cNvPr id="8" name="CardBody0"/>
          <p:cNvSpPr txBox="1"/>
          <p:nvPr/>
        </p:nvSpPr>
        <p:spPr>
          <a:xfrm>
            <a:off x="548640" y="2194560"/>
            <a:ext cx="2377440" cy="11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TextField, NumberField, SelectField,</a:t>
            </a:r>
          </a:p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DateField, CurrencyField,</a:t>
            </a:r>
          </a:p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EntityLookupField — mode-aware.</a:t>
            </a:r>
          </a:p>
        </p:txBody>
      </p:sp>
      <p:sp>
        <p:nvSpPr>
          <p:cNvPr id="9" name="Card1"/>
          <p:cNvSpPr/>
          <p:nvPr/>
        </p:nvSpPr>
        <p:spPr>
          <a:xfrm>
            <a:off x="3291840" y="1097280"/>
            <a:ext cx="283464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75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ardTitle1"/>
          <p:cNvSpPr txBox="1"/>
          <p:nvPr/>
        </p:nvSpPr>
        <p:spPr>
          <a:xfrm>
            <a:off x="3520440" y="1260866"/>
            <a:ext cx="23774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300" b="1" dirty="0">
                <a:solidFill>
                  <a:srgbClr val="2575FC"/>
                </a:solidFill>
                <a:latin typeface="Calibri"/>
              </a:rPr>
              <a:t>DetailPageLayout</a:t>
            </a:r>
          </a:p>
        </p:txBody>
      </p:sp>
      <p:sp>
        <p:nvSpPr>
          <p:cNvPr id="11" name="CardBody1"/>
          <p:cNvSpPr txBox="1"/>
          <p:nvPr/>
        </p:nvSpPr>
        <p:spPr>
          <a:xfrm>
            <a:off x="3520440" y="2194560"/>
            <a:ext cx="2377440" cy="11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Tek sayfa · üç mod (new/edit/view).</a:t>
            </a:r>
          </a:p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Mode URL'den okunur;</a:t>
            </a:r>
          </a:p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FormModeProvider ile yayılır.</a:t>
            </a:r>
          </a:p>
        </p:txBody>
      </p:sp>
      <p:sp>
        <p:nvSpPr>
          <p:cNvPr id="12" name="Card2"/>
          <p:cNvSpPr/>
          <p:nvPr/>
        </p:nvSpPr>
        <p:spPr>
          <a:xfrm>
            <a:off x="6263640" y="1097280"/>
            <a:ext cx="283464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21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ardTitle2"/>
          <p:cNvSpPr txBox="1"/>
          <p:nvPr/>
        </p:nvSpPr>
        <p:spPr>
          <a:xfrm>
            <a:off x="6492240" y="1260866"/>
            <a:ext cx="23774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300" b="1" dirty="0">
                <a:solidFill>
                  <a:srgbClr val="121147"/>
                </a:solidFill>
                <a:latin typeface="Calibri"/>
              </a:rPr>
              <a:t>ListPageLayout</a:t>
            </a:r>
          </a:p>
        </p:txBody>
      </p:sp>
      <p:sp>
        <p:nvSpPr>
          <p:cNvPr id="14" name="CardBody2"/>
          <p:cNvSpPr txBox="1"/>
          <p:nvPr/>
        </p:nvSpPr>
        <p:spPr>
          <a:xfrm>
            <a:off x="6492240" y="2194560"/>
            <a:ext cx="2377440" cy="11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URL-senkronize filtre + sayfalama,</a:t>
            </a:r>
          </a:p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DataTable, 'Yeni Ekle' butonu,</a:t>
            </a:r>
          </a:p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satır → detail navigasyonu.</a:t>
            </a:r>
          </a:p>
        </p:txBody>
      </p:sp>
      <p:sp>
        <p:nvSpPr>
          <p:cNvPr id="15" name="Card3"/>
          <p:cNvSpPr/>
          <p:nvPr/>
        </p:nvSpPr>
        <p:spPr>
          <a:xfrm>
            <a:off x="9235440" y="1097280"/>
            <a:ext cx="283464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4A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rdTitle3"/>
          <p:cNvSpPr txBox="1"/>
          <p:nvPr/>
        </p:nvSpPr>
        <p:spPr>
          <a:xfrm>
            <a:off x="9464040" y="1260866"/>
            <a:ext cx="23774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300" b="1" dirty="0">
                <a:solidFill>
                  <a:srgbClr val="54ADD3"/>
                </a:solidFill>
                <a:latin typeface="Calibri"/>
              </a:rPr>
              <a:t>Multi Language (i18n)</a:t>
            </a:r>
          </a:p>
        </p:txBody>
      </p:sp>
      <p:sp>
        <p:nvSpPr>
          <p:cNvPr id="17" name="CardBody3"/>
          <p:cNvSpPr txBox="1"/>
          <p:nvPr/>
        </p:nvSpPr>
        <p:spPr>
          <a:xfrm>
            <a:off x="9464040" y="2194560"/>
            <a:ext cx="2377440" cy="11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Çoklu dil yerleşik;</a:t>
            </a:r>
          </a:p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etiketler ve UI metinleri</a:t>
            </a:r>
          </a:p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merkezi sözlükten beslenir.</a:t>
            </a:r>
          </a:p>
        </p:txBody>
      </p:sp>
      <p:sp>
        <p:nvSpPr>
          <p:cNvPr id="18" name="Card4"/>
          <p:cNvSpPr/>
          <p:nvPr/>
        </p:nvSpPr>
        <p:spPr>
          <a:xfrm>
            <a:off x="320040" y="3749040"/>
            <a:ext cx="283464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ardTitle4"/>
          <p:cNvSpPr txBox="1"/>
          <p:nvPr/>
        </p:nvSpPr>
        <p:spPr>
          <a:xfrm>
            <a:off x="548640" y="3912626"/>
            <a:ext cx="23774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300" b="1" dirty="0">
                <a:solidFill>
                  <a:srgbClr val="00282A"/>
                </a:solidFill>
                <a:latin typeface="Calibri"/>
              </a:rPr>
              <a:t>RichText + Attachment</a:t>
            </a:r>
          </a:p>
        </p:txBody>
      </p:sp>
      <p:sp>
        <p:nvSpPr>
          <p:cNvPr id="20" name="CardBody4"/>
          <p:cNvSpPr txBox="1"/>
          <p:nvPr/>
        </p:nvSpPr>
        <p:spPr>
          <a:xfrm>
            <a:off x="548640" y="4846320"/>
            <a:ext cx="2377440" cy="11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HTML editör, görsel yerleştirme,</a:t>
            </a:r>
          </a:p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drag-and-drop dosya yükleme;</a:t>
            </a:r>
          </a:p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Activity &amp; Document ile uyumlu.</a:t>
            </a:r>
          </a:p>
        </p:txBody>
      </p:sp>
      <p:sp>
        <p:nvSpPr>
          <p:cNvPr id="21" name="Card5"/>
          <p:cNvSpPr/>
          <p:nvPr/>
        </p:nvSpPr>
        <p:spPr>
          <a:xfrm>
            <a:off x="3291840" y="3749040"/>
            <a:ext cx="283464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9E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ardTitle5"/>
          <p:cNvSpPr txBox="1"/>
          <p:nvPr/>
        </p:nvSpPr>
        <p:spPr>
          <a:xfrm>
            <a:off x="3520440" y="3912626"/>
            <a:ext cx="23774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300" b="1" dirty="0">
                <a:solidFill>
                  <a:srgbClr val="069E49"/>
                </a:solidFill>
                <a:latin typeface="Calibri"/>
              </a:rPr>
              <a:t>Lookup / Reference</a:t>
            </a:r>
          </a:p>
        </p:txBody>
      </p:sp>
      <p:sp>
        <p:nvSpPr>
          <p:cNvPr id="23" name="CardBody5"/>
          <p:cNvSpPr txBox="1"/>
          <p:nvPr/>
        </p:nvSpPr>
        <p:spPr>
          <a:xfrm>
            <a:off x="3520440" y="4846320"/>
            <a:ext cx="2377440" cy="11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EntityLookupField ile cross-entity</a:t>
            </a:r>
          </a:p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referans arama;</a:t>
            </a:r>
          </a:p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polimorfik regarding desteği.</a:t>
            </a:r>
          </a:p>
        </p:txBody>
      </p:sp>
      <p:sp>
        <p:nvSpPr>
          <p:cNvPr id="24" name="Card6"/>
          <p:cNvSpPr/>
          <p:nvPr/>
        </p:nvSpPr>
        <p:spPr>
          <a:xfrm>
            <a:off x="6263640" y="3749040"/>
            <a:ext cx="283464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ardTitle6"/>
          <p:cNvSpPr txBox="1"/>
          <p:nvPr/>
        </p:nvSpPr>
        <p:spPr>
          <a:xfrm>
            <a:off x="6492240" y="3912626"/>
            <a:ext cx="23774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300" b="1" dirty="0">
                <a:solidFill>
                  <a:srgbClr val="007BFF"/>
                </a:solidFill>
                <a:latin typeface="Calibri"/>
              </a:rPr>
              <a:t>DataTable + FormSection</a:t>
            </a:r>
          </a:p>
        </p:txBody>
      </p:sp>
      <p:sp>
        <p:nvSpPr>
          <p:cNvPr id="26" name="CardBody6"/>
          <p:cNvSpPr txBox="1"/>
          <p:nvPr/>
        </p:nvSpPr>
        <p:spPr>
          <a:xfrm>
            <a:off x="6492240" y="4846320"/>
            <a:ext cx="2377440" cy="11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Sıralama, filtre, sayfalama,</a:t>
            </a:r>
          </a:p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satır seçimi; tutarlı görsel</a:t>
            </a:r>
          </a:p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düzen için FormSection.</a:t>
            </a:r>
          </a:p>
        </p:txBody>
      </p:sp>
      <p:sp>
        <p:nvSpPr>
          <p:cNvPr id="27" name="Card7"/>
          <p:cNvSpPr/>
          <p:nvPr/>
        </p:nvSpPr>
        <p:spPr>
          <a:xfrm>
            <a:off x="9235440" y="3749040"/>
            <a:ext cx="283464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E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CardTitle7"/>
          <p:cNvSpPr txBox="1"/>
          <p:nvPr/>
        </p:nvSpPr>
        <p:spPr>
          <a:xfrm>
            <a:off x="9464040" y="3912626"/>
            <a:ext cx="23774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300" b="1" dirty="0">
                <a:solidFill>
                  <a:srgbClr val="5E6D7E"/>
                </a:solidFill>
                <a:latin typeface="Calibri"/>
              </a:rPr>
              <a:t>Caching + Validation</a:t>
            </a:r>
          </a:p>
        </p:txBody>
      </p:sp>
      <p:sp>
        <p:nvSpPr>
          <p:cNvPr id="29" name="CardBody7"/>
          <p:cNvSpPr txBox="1"/>
          <p:nvPr/>
        </p:nvSpPr>
        <p:spPr>
          <a:xfrm>
            <a:off x="9464040" y="4846320"/>
            <a:ext cx="2377440" cy="11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TanStack Query ile server state</a:t>
            </a:r>
          </a:p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cache + invalidation,</a:t>
            </a:r>
          </a:p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zod ile form doğrulama.</a:t>
            </a:r>
          </a:p>
        </p:txBody>
      </p:sp>
      <p:sp>
        <p:nvSpPr>
          <p:cNvPr id="30" name="FooterLeft"/>
          <p:cNvSpPr txBox="1"/>
          <p:nvPr/>
        </p:nvSpPr>
        <p:spPr>
          <a:xfrm>
            <a:off x="457200" y="6537960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000" b="0" dirty="0">
                <a:solidFill>
                  <a:srgbClr val="6B7280"/>
                </a:solidFill>
                <a:latin typeface="Calibri"/>
              </a:rPr>
              <a:t>Codeliman  •  </a:t>
            </a:r>
            <a:r>
              <a:rPr lang="tr-TR" sz="1000" b="0" dirty="0" err="1">
                <a:solidFill>
                  <a:srgbClr val="6B7280"/>
                </a:solidFill>
                <a:latin typeface="Calibri"/>
              </a:rPr>
              <a:t>PlatformSuite</a:t>
            </a:r>
            <a:r>
              <a:rPr lang="tr-TR" sz="1000" b="0" dirty="0">
                <a:solidFill>
                  <a:srgbClr val="6B7280"/>
                </a:solidFill>
                <a:latin typeface="Calibri"/>
              </a:rPr>
              <a:t> •  Haziran 2026</a:t>
            </a:r>
          </a:p>
        </p:txBody>
      </p:sp>
      <p:sp>
        <p:nvSpPr>
          <p:cNvPr id="31" name="FooterRight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tr-TR" sz="1000" b="0" dirty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21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Box"/>
          <p:cNvSpPr txBox="1"/>
          <p:nvPr/>
        </p:nvSpPr>
        <p:spPr>
          <a:xfrm>
            <a:off x="457200" y="137160"/>
            <a:ext cx="1127729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tr-TR" sz="2600" b="1" dirty="0">
                <a:solidFill>
                  <a:srgbClr val="FFFFFF"/>
                </a:solidFill>
                <a:latin typeface="Calibri"/>
              </a:rPr>
              <a:t>Apps Katmanı — Müşteri Domain'i</a:t>
            </a:r>
          </a:p>
        </p:txBody>
      </p:sp>
      <p:sp>
        <p:nvSpPr>
          <p:cNvPr id="4" name="SubtitleBox"/>
          <p:cNvSpPr txBox="1"/>
          <p:nvPr/>
        </p:nvSpPr>
        <p:spPr>
          <a:xfrm>
            <a:off x="457200" y="50292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400" b="0" dirty="0">
                <a:solidFill>
                  <a:srgbClr val="EFF6FF"/>
                </a:solidFill>
                <a:latin typeface="Calibri"/>
              </a:rPr>
              <a:t>Platform paylaşılan zemin; Apps müşterinin iş dünyasını taşır</a:t>
            </a:r>
          </a:p>
        </p:txBody>
      </p:sp>
      <p:sp>
        <p:nvSpPr>
          <p:cNvPr id="5" name="HeaderAccent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ard0"/>
          <p:cNvSpPr/>
          <p:nvPr/>
        </p:nvSpPr>
        <p:spPr>
          <a:xfrm>
            <a:off x="320040" y="1097280"/>
            <a:ext cx="283464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1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ardTitle0"/>
          <p:cNvSpPr txBox="1"/>
          <p:nvPr/>
        </p:nvSpPr>
        <p:spPr>
          <a:xfrm>
            <a:off x="548640" y="1260866"/>
            <a:ext cx="23774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300" b="1" dirty="0">
                <a:solidFill>
                  <a:srgbClr val="021343"/>
                </a:solidFill>
                <a:latin typeface="Calibri"/>
              </a:rPr>
              <a:t>CRM (örnek app)</a:t>
            </a:r>
          </a:p>
        </p:txBody>
      </p:sp>
      <p:sp>
        <p:nvSpPr>
          <p:cNvPr id="8" name="CardBody0"/>
          <p:cNvSpPr txBox="1"/>
          <p:nvPr/>
        </p:nvSpPr>
        <p:spPr>
          <a:xfrm>
            <a:off x="548640" y="2194560"/>
            <a:ext cx="2377440" cy="11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Account · Contact · Lead · Opportunity.</a:t>
            </a:r>
          </a:p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Satış akışı entity'leri;</a:t>
            </a:r>
          </a:p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kendi servis yolları ve sayfaları.</a:t>
            </a:r>
          </a:p>
        </p:txBody>
      </p:sp>
      <p:sp>
        <p:nvSpPr>
          <p:cNvPr id="9" name="Card1"/>
          <p:cNvSpPr/>
          <p:nvPr/>
        </p:nvSpPr>
        <p:spPr>
          <a:xfrm>
            <a:off x="3291840" y="1097280"/>
            <a:ext cx="283464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75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ardTitle1"/>
          <p:cNvSpPr txBox="1"/>
          <p:nvPr/>
        </p:nvSpPr>
        <p:spPr>
          <a:xfrm>
            <a:off x="3520440" y="1260866"/>
            <a:ext cx="23774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300" b="1" dirty="0">
                <a:solidFill>
                  <a:srgbClr val="2575FC"/>
                </a:solidFill>
                <a:latin typeface="Calibri"/>
              </a:rPr>
              <a:t>CodePro (örnek app)</a:t>
            </a:r>
          </a:p>
        </p:txBody>
      </p:sp>
      <p:sp>
        <p:nvSpPr>
          <p:cNvPr id="11" name="CardBody1"/>
          <p:cNvSpPr txBox="1"/>
          <p:nvPr/>
        </p:nvSpPr>
        <p:spPr>
          <a:xfrm>
            <a:off x="3520440" y="2194560"/>
            <a:ext cx="2377440" cy="11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Supplier · PurchaseOrder · Budget ·</a:t>
            </a:r>
          </a:p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Contract · Offer · Product.</a:t>
            </a:r>
          </a:p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Satın alma akışı entity'leri.</a:t>
            </a:r>
          </a:p>
        </p:txBody>
      </p:sp>
      <p:sp>
        <p:nvSpPr>
          <p:cNvPr id="12" name="Card2"/>
          <p:cNvSpPr/>
          <p:nvPr/>
        </p:nvSpPr>
        <p:spPr>
          <a:xfrm>
            <a:off x="6263640" y="1097280"/>
            <a:ext cx="283464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ardTitle2"/>
          <p:cNvSpPr txBox="1"/>
          <p:nvPr/>
        </p:nvSpPr>
        <p:spPr>
          <a:xfrm>
            <a:off x="6492240" y="1260866"/>
            <a:ext cx="23774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300" b="1" dirty="0">
                <a:solidFill>
                  <a:srgbClr val="00282A"/>
                </a:solidFill>
                <a:latin typeface="Calibri"/>
              </a:rPr>
              <a:t>Müşteri App #1</a:t>
            </a:r>
          </a:p>
        </p:txBody>
      </p:sp>
      <p:sp>
        <p:nvSpPr>
          <p:cNvPr id="14" name="CardBody2"/>
          <p:cNvSpPr txBox="1"/>
          <p:nvPr/>
        </p:nvSpPr>
        <p:spPr>
          <a:xfrm>
            <a:off x="6492240" y="2194560"/>
            <a:ext cx="2377440" cy="11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Müşterinin kendi domaini.</a:t>
            </a:r>
          </a:p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Platform &amp; Apps mimarisini</a:t>
            </a:r>
          </a:p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olduğu gibi tüketir.</a:t>
            </a:r>
          </a:p>
        </p:txBody>
      </p:sp>
      <p:sp>
        <p:nvSpPr>
          <p:cNvPr id="15" name="Card3"/>
          <p:cNvSpPr/>
          <p:nvPr/>
        </p:nvSpPr>
        <p:spPr>
          <a:xfrm>
            <a:off x="9235440" y="1097280"/>
            <a:ext cx="283464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9E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rdTitle3"/>
          <p:cNvSpPr txBox="1"/>
          <p:nvPr/>
        </p:nvSpPr>
        <p:spPr>
          <a:xfrm>
            <a:off x="9464040" y="1260866"/>
            <a:ext cx="23774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300" b="1" dirty="0">
                <a:solidFill>
                  <a:srgbClr val="069E49"/>
                </a:solidFill>
                <a:latin typeface="Calibri"/>
              </a:rPr>
              <a:t>Müşteri App #2</a:t>
            </a:r>
          </a:p>
        </p:txBody>
      </p:sp>
      <p:sp>
        <p:nvSpPr>
          <p:cNvPr id="17" name="CardBody3"/>
          <p:cNvSpPr txBox="1"/>
          <p:nvPr/>
        </p:nvSpPr>
        <p:spPr>
          <a:xfrm>
            <a:off x="9464040" y="2194560"/>
            <a:ext cx="2377440" cy="11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Aynı zeminde paralel app;</a:t>
            </a:r>
          </a:p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kendi entity'leri, sayfaları,</a:t>
            </a:r>
          </a:p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yetki kodları, DbContext'i.</a:t>
            </a:r>
          </a:p>
        </p:txBody>
      </p:sp>
      <p:sp>
        <p:nvSpPr>
          <p:cNvPr id="18" name="FootnoteFrame"/>
          <p:cNvSpPr/>
          <p:nvPr/>
        </p:nvSpPr>
        <p:spPr>
          <a:xfrm>
            <a:off x="320040" y="3886200"/>
            <a:ext cx="117500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1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FootnoteTitle"/>
          <p:cNvSpPr txBox="1"/>
          <p:nvPr/>
        </p:nvSpPr>
        <p:spPr>
          <a:xfrm>
            <a:off x="548640" y="4160520"/>
            <a:ext cx="112928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400" b="1" dirty="0">
                <a:solidFill>
                  <a:srgbClr val="021343"/>
                </a:solidFill>
                <a:latin typeface="Calibri"/>
              </a:rPr>
              <a:t>Yer kararı — entity hangi katmana gider?</a:t>
            </a:r>
          </a:p>
        </p:txBody>
      </p:sp>
      <p:sp>
        <p:nvSpPr>
          <p:cNvPr id="20" name="FootnoteBody"/>
          <p:cNvSpPr txBox="1"/>
          <p:nvPr/>
        </p:nvSpPr>
        <p:spPr>
          <a:xfrm>
            <a:off x="548640" y="4572000"/>
            <a:ext cx="11292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200" b="0" dirty="0">
                <a:solidFill>
                  <a:srgbClr val="1F2937"/>
                </a:solidFill>
                <a:latin typeface="Calibri"/>
              </a:rPr>
              <a:t>Kural: bir entity birden fazla app'te aynı semantikle varsa → Platform;  tek app'e özelse → ilgili app. Cross-app entity import yasak; lookup yalnız EntityLookupField üzerinden.</a:t>
            </a:r>
          </a:p>
        </p:txBody>
      </p:sp>
      <p:sp>
        <p:nvSpPr>
          <p:cNvPr id="21" name="FooterLeft"/>
          <p:cNvSpPr txBox="1"/>
          <p:nvPr/>
        </p:nvSpPr>
        <p:spPr>
          <a:xfrm>
            <a:off x="457200" y="6537960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000" b="0" dirty="0">
                <a:solidFill>
                  <a:srgbClr val="6B7280"/>
                </a:solidFill>
                <a:latin typeface="Calibri"/>
              </a:rPr>
              <a:t>Codeliman  •  </a:t>
            </a:r>
            <a:r>
              <a:rPr lang="tr-TR" sz="1000" b="0" dirty="0" err="1">
                <a:solidFill>
                  <a:srgbClr val="6B7280"/>
                </a:solidFill>
                <a:latin typeface="Calibri"/>
              </a:rPr>
              <a:t>PlatformSuite</a:t>
            </a:r>
            <a:r>
              <a:rPr lang="tr-TR" sz="1000" b="0" dirty="0">
                <a:solidFill>
                  <a:srgbClr val="6B7280"/>
                </a:solidFill>
                <a:latin typeface="Calibri"/>
              </a:rPr>
              <a:t> •  Haziran 2026</a:t>
            </a:r>
          </a:p>
        </p:txBody>
      </p:sp>
      <p:sp>
        <p:nvSpPr>
          <p:cNvPr id="22" name="FooterRight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tr-TR" sz="1000" b="0" dirty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69E49"/>
                </a:solidFill>
                <a:latin typeface="Calibri"/>
              </a:rPr>
              <a:t>BÖLÜM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1828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0" b="1">
                <a:solidFill>
                  <a:srgbClr val="FEF3C7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108960"/>
            <a:ext cx="8229600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5200" b="1" dirty="0">
                <a:solidFill>
                  <a:srgbClr val="FFFFFF"/>
                </a:solidFill>
                <a:latin typeface="Calibri"/>
              </a:rPr>
              <a:t>Geliştirme</a:t>
            </a:r>
            <a:endParaRPr sz="5200" b="1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21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Box"/>
          <p:cNvSpPr txBox="1"/>
          <p:nvPr/>
        </p:nvSpPr>
        <p:spPr>
          <a:xfrm>
            <a:off x="457200" y="137160"/>
            <a:ext cx="1127729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tr-TR" sz="2600" b="1" dirty="0" err="1">
                <a:solidFill>
                  <a:srgbClr val="FFFFFF"/>
                </a:solidFill>
                <a:latin typeface="Calibri"/>
              </a:rPr>
              <a:t>Frontend</a:t>
            </a:r>
            <a:r>
              <a:rPr lang="tr-TR" sz="2600" b="1" dirty="0">
                <a:solidFill>
                  <a:srgbClr val="FFFFFF"/>
                </a:solidFill>
                <a:latin typeface="Calibri"/>
              </a:rPr>
              <a:t> Altyapısı</a:t>
            </a:r>
          </a:p>
        </p:txBody>
      </p:sp>
      <p:sp>
        <p:nvSpPr>
          <p:cNvPr id="4" name="SubtitleBox"/>
          <p:cNvSpPr txBox="1"/>
          <p:nvPr/>
        </p:nvSpPr>
        <p:spPr>
          <a:xfrm>
            <a:off x="457200" y="50292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400" b="0" dirty="0">
                <a:solidFill>
                  <a:srgbClr val="EFF6FF"/>
                </a:solidFill>
                <a:latin typeface="Calibri"/>
              </a:rPr>
              <a:t>@platform/ui  •  15+ form component  •  Layout · Mode  •  Hazır sayfalar  •  App shell + Routing</a:t>
            </a:r>
          </a:p>
        </p:txBody>
      </p:sp>
      <p:sp>
        <p:nvSpPr>
          <p:cNvPr id="5" name="HeaderAccent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ardBg0"/>
          <p:cNvSpPr/>
          <p:nvPr/>
        </p:nvSpPr>
        <p:spPr>
          <a:xfrm>
            <a:off x="457200" y="1188720"/>
            <a:ext cx="26060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1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ardHead0"/>
          <p:cNvSpPr/>
          <p:nvPr/>
        </p:nvSpPr>
        <p:spPr>
          <a:xfrm>
            <a:off x="457200" y="1188720"/>
            <a:ext cx="2606040" cy="502920"/>
          </a:xfrm>
          <a:prstGeom prst="roundRect">
            <a:avLst/>
          </a:prstGeom>
          <a:solidFill>
            <a:srgbClr val="121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300" b="1" dirty="0">
                <a:solidFill>
                  <a:srgbClr val="FFFFFF"/>
                </a:solidFill>
                <a:latin typeface="Calibri"/>
              </a:rPr>
              <a:t>Metin &amp; Sayı</a:t>
            </a:r>
          </a:p>
        </p:txBody>
      </p:sp>
      <p:sp>
        <p:nvSpPr>
          <p:cNvPr id="8" name="Card0Bul0"/>
          <p:cNvSpPr txBox="1"/>
          <p:nvPr/>
        </p:nvSpPr>
        <p:spPr>
          <a:xfrm>
            <a:off x="685800" y="182880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•  TextField</a:t>
            </a:r>
          </a:p>
        </p:txBody>
      </p:sp>
      <p:sp>
        <p:nvSpPr>
          <p:cNvPr id="9" name="Card0Bul1"/>
          <p:cNvSpPr txBox="1"/>
          <p:nvPr/>
        </p:nvSpPr>
        <p:spPr>
          <a:xfrm>
            <a:off x="685800" y="219456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•  NumberField</a:t>
            </a:r>
          </a:p>
        </p:txBody>
      </p:sp>
      <p:sp>
        <p:nvSpPr>
          <p:cNvPr id="10" name="Card0Bul2"/>
          <p:cNvSpPr txBox="1"/>
          <p:nvPr/>
        </p:nvSpPr>
        <p:spPr>
          <a:xfrm>
            <a:off x="685800" y="256032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•  TextAreaField</a:t>
            </a:r>
          </a:p>
        </p:txBody>
      </p:sp>
      <p:sp>
        <p:nvSpPr>
          <p:cNvPr id="11" name="Card0Bul3"/>
          <p:cNvSpPr txBox="1"/>
          <p:nvPr/>
        </p:nvSpPr>
        <p:spPr>
          <a:xfrm>
            <a:off x="685800" y="292608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•  CurrencyField</a:t>
            </a:r>
          </a:p>
        </p:txBody>
      </p:sp>
      <p:sp>
        <p:nvSpPr>
          <p:cNvPr id="12" name="CardBg1"/>
          <p:cNvSpPr/>
          <p:nvPr/>
        </p:nvSpPr>
        <p:spPr>
          <a:xfrm>
            <a:off x="3346704" y="1188720"/>
            <a:ext cx="26060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4A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ardHead1"/>
          <p:cNvSpPr/>
          <p:nvPr/>
        </p:nvSpPr>
        <p:spPr>
          <a:xfrm>
            <a:off x="3346704" y="1188720"/>
            <a:ext cx="2606040" cy="502920"/>
          </a:xfrm>
          <a:prstGeom prst="roundRect">
            <a:avLst/>
          </a:prstGeom>
          <a:solidFill>
            <a:srgbClr val="54A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300" b="1" dirty="0">
                <a:solidFill>
                  <a:srgbClr val="FFFFFF"/>
                </a:solidFill>
                <a:latin typeface="Calibri"/>
              </a:rPr>
              <a:t>Seçim</a:t>
            </a:r>
          </a:p>
        </p:txBody>
      </p:sp>
      <p:sp>
        <p:nvSpPr>
          <p:cNvPr id="14" name="Card1Bul0"/>
          <p:cNvSpPr txBox="1"/>
          <p:nvPr/>
        </p:nvSpPr>
        <p:spPr>
          <a:xfrm>
            <a:off x="3575304" y="182880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•  SelectField</a:t>
            </a:r>
          </a:p>
        </p:txBody>
      </p:sp>
      <p:sp>
        <p:nvSpPr>
          <p:cNvPr id="15" name="Card1Bul1"/>
          <p:cNvSpPr txBox="1"/>
          <p:nvPr/>
        </p:nvSpPr>
        <p:spPr>
          <a:xfrm>
            <a:off x="3575304" y="219456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•  CheckboxField</a:t>
            </a:r>
          </a:p>
        </p:txBody>
      </p:sp>
      <p:sp>
        <p:nvSpPr>
          <p:cNvPr id="16" name="Card1Bul2"/>
          <p:cNvSpPr txBox="1"/>
          <p:nvPr/>
        </p:nvSpPr>
        <p:spPr>
          <a:xfrm>
            <a:off x="3575304" y="256032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•  DateField</a:t>
            </a:r>
          </a:p>
        </p:txBody>
      </p:sp>
      <p:sp>
        <p:nvSpPr>
          <p:cNvPr id="17" name="Card1Bul3"/>
          <p:cNvSpPr txBox="1"/>
          <p:nvPr/>
        </p:nvSpPr>
        <p:spPr>
          <a:xfrm>
            <a:off x="3575304" y="292608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•  DateTimeField</a:t>
            </a:r>
          </a:p>
        </p:txBody>
      </p:sp>
      <p:sp>
        <p:nvSpPr>
          <p:cNvPr id="18" name="CardBg2"/>
          <p:cNvSpPr/>
          <p:nvPr/>
        </p:nvSpPr>
        <p:spPr>
          <a:xfrm>
            <a:off x="6236208" y="1188720"/>
            <a:ext cx="26060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9E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ardHead2"/>
          <p:cNvSpPr/>
          <p:nvPr/>
        </p:nvSpPr>
        <p:spPr>
          <a:xfrm>
            <a:off x="6236208" y="1188720"/>
            <a:ext cx="2606040" cy="502920"/>
          </a:xfrm>
          <a:prstGeom prst="roundRect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300" b="1" dirty="0">
                <a:solidFill>
                  <a:srgbClr val="FFFFFF"/>
                </a:solidFill>
                <a:latin typeface="Calibri"/>
              </a:rPr>
              <a:t>İlişkili</a:t>
            </a:r>
          </a:p>
        </p:txBody>
      </p:sp>
      <p:sp>
        <p:nvSpPr>
          <p:cNvPr id="20" name="Card2Bul0"/>
          <p:cNvSpPr txBox="1"/>
          <p:nvPr/>
        </p:nvSpPr>
        <p:spPr>
          <a:xfrm>
            <a:off x="6464808" y="182880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•  EntityLookupField</a:t>
            </a:r>
          </a:p>
        </p:txBody>
      </p:sp>
      <p:sp>
        <p:nvSpPr>
          <p:cNvPr id="21" name="Card2Bul1"/>
          <p:cNvSpPr txBox="1"/>
          <p:nvPr/>
        </p:nvSpPr>
        <p:spPr>
          <a:xfrm>
            <a:off x="6464808" y="219456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•  EntityRelationTable</a:t>
            </a:r>
          </a:p>
        </p:txBody>
      </p:sp>
      <p:sp>
        <p:nvSpPr>
          <p:cNvPr id="22" name="Card2Bul2"/>
          <p:cNvSpPr txBox="1"/>
          <p:nvPr/>
        </p:nvSpPr>
        <p:spPr>
          <a:xfrm>
            <a:off x="6464808" y="256032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•  TableField</a:t>
            </a:r>
          </a:p>
        </p:txBody>
      </p:sp>
      <p:sp>
        <p:nvSpPr>
          <p:cNvPr id="23" name="CardBg3"/>
          <p:cNvSpPr/>
          <p:nvPr/>
        </p:nvSpPr>
        <p:spPr>
          <a:xfrm>
            <a:off x="9125712" y="1188720"/>
            <a:ext cx="26060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CardHead3"/>
          <p:cNvSpPr/>
          <p:nvPr/>
        </p:nvSpPr>
        <p:spPr>
          <a:xfrm>
            <a:off x="9125712" y="1188720"/>
            <a:ext cx="2606040" cy="502920"/>
          </a:xfrm>
          <a:prstGeom prst="roundRect">
            <a:avLst/>
          </a:prstGeom>
          <a:solidFill>
            <a:srgbClr val="002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300" b="1" dirty="0">
                <a:solidFill>
                  <a:srgbClr val="FFFFFF"/>
                </a:solidFill>
                <a:latin typeface="Calibri"/>
              </a:rPr>
              <a:t>Zengin İçerik</a:t>
            </a:r>
          </a:p>
        </p:txBody>
      </p:sp>
      <p:sp>
        <p:nvSpPr>
          <p:cNvPr id="25" name="Card3Bul0"/>
          <p:cNvSpPr txBox="1"/>
          <p:nvPr/>
        </p:nvSpPr>
        <p:spPr>
          <a:xfrm>
            <a:off x="9354312" y="182880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•  RichTextEditor</a:t>
            </a:r>
          </a:p>
        </p:txBody>
      </p:sp>
      <p:sp>
        <p:nvSpPr>
          <p:cNvPr id="26" name="Card3Bul1"/>
          <p:cNvSpPr txBox="1"/>
          <p:nvPr/>
        </p:nvSpPr>
        <p:spPr>
          <a:xfrm>
            <a:off x="9354312" y="219456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•  Attachment Uploader</a:t>
            </a:r>
          </a:p>
        </p:txBody>
      </p:sp>
      <p:sp>
        <p:nvSpPr>
          <p:cNvPr id="27" name="CardBg4"/>
          <p:cNvSpPr/>
          <p:nvPr/>
        </p:nvSpPr>
        <p:spPr>
          <a:xfrm>
            <a:off x="457200" y="3749040"/>
            <a:ext cx="26060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1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CardHead4"/>
          <p:cNvSpPr/>
          <p:nvPr/>
        </p:nvSpPr>
        <p:spPr>
          <a:xfrm>
            <a:off x="457200" y="3749040"/>
            <a:ext cx="2606040" cy="502920"/>
          </a:xfrm>
          <a:prstGeom prst="roundRect">
            <a:avLst/>
          </a:prstGeom>
          <a:solidFill>
            <a:srgbClr val="021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300" b="1" dirty="0">
                <a:solidFill>
                  <a:srgbClr val="FFFFFF"/>
                </a:solidFill>
                <a:latin typeface="Calibri"/>
              </a:rPr>
              <a:t>Layout</a:t>
            </a:r>
          </a:p>
        </p:txBody>
      </p:sp>
      <p:sp>
        <p:nvSpPr>
          <p:cNvPr id="29" name="Card4Bul0"/>
          <p:cNvSpPr txBox="1"/>
          <p:nvPr/>
        </p:nvSpPr>
        <p:spPr>
          <a:xfrm>
            <a:off x="685800" y="438912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•  DetailPageLayout</a:t>
            </a:r>
          </a:p>
        </p:txBody>
      </p:sp>
      <p:sp>
        <p:nvSpPr>
          <p:cNvPr id="30" name="Card4Bul1"/>
          <p:cNvSpPr txBox="1"/>
          <p:nvPr/>
        </p:nvSpPr>
        <p:spPr>
          <a:xfrm>
            <a:off x="685800" y="475488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•  ListPageLayout</a:t>
            </a:r>
          </a:p>
        </p:txBody>
      </p:sp>
      <p:sp>
        <p:nvSpPr>
          <p:cNvPr id="31" name="Card4Bul2"/>
          <p:cNvSpPr txBox="1"/>
          <p:nvPr/>
        </p:nvSpPr>
        <p:spPr>
          <a:xfrm>
            <a:off x="685800" y="512064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•  FormSection</a:t>
            </a:r>
          </a:p>
        </p:txBody>
      </p:sp>
      <p:sp>
        <p:nvSpPr>
          <p:cNvPr id="32" name="Card4Bul3"/>
          <p:cNvSpPr txBox="1"/>
          <p:nvPr/>
        </p:nvSpPr>
        <p:spPr>
          <a:xfrm>
            <a:off x="685800" y="548640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•  DataTable</a:t>
            </a:r>
          </a:p>
        </p:txBody>
      </p:sp>
      <p:sp>
        <p:nvSpPr>
          <p:cNvPr id="33" name="CardBg5"/>
          <p:cNvSpPr/>
          <p:nvPr/>
        </p:nvSpPr>
        <p:spPr>
          <a:xfrm>
            <a:off x="3346704" y="3749040"/>
            <a:ext cx="26060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CardHead5"/>
          <p:cNvSpPr/>
          <p:nvPr/>
        </p:nvSpPr>
        <p:spPr>
          <a:xfrm>
            <a:off x="3346704" y="3749040"/>
            <a:ext cx="2606040" cy="502920"/>
          </a:xfrm>
          <a:prstGeom prst="round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300" b="1" dirty="0">
                <a:solidFill>
                  <a:srgbClr val="FFFFFF"/>
                </a:solidFill>
                <a:latin typeface="Calibri"/>
              </a:rPr>
              <a:t>Mode</a:t>
            </a:r>
          </a:p>
        </p:txBody>
      </p:sp>
      <p:sp>
        <p:nvSpPr>
          <p:cNvPr id="35" name="Card5Bul0"/>
          <p:cNvSpPr txBox="1"/>
          <p:nvPr/>
        </p:nvSpPr>
        <p:spPr>
          <a:xfrm>
            <a:off x="3575304" y="438912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•  FormModeProvider</a:t>
            </a:r>
          </a:p>
        </p:txBody>
      </p:sp>
      <p:sp>
        <p:nvSpPr>
          <p:cNvPr id="36" name="Card5Bul1"/>
          <p:cNvSpPr txBox="1"/>
          <p:nvPr/>
        </p:nvSpPr>
        <p:spPr>
          <a:xfrm>
            <a:off x="3575304" y="475488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•  (new / edit / view otomatik)</a:t>
            </a:r>
          </a:p>
        </p:txBody>
      </p:sp>
      <p:sp>
        <p:nvSpPr>
          <p:cNvPr id="37" name="CardBg6"/>
          <p:cNvSpPr/>
          <p:nvPr/>
        </p:nvSpPr>
        <p:spPr>
          <a:xfrm>
            <a:off x="6236208" y="3749040"/>
            <a:ext cx="26060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75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CardHead6"/>
          <p:cNvSpPr/>
          <p:nvPr/>
        </p:nvSpPr>
        <p:spPr>
          <a:xfrm>
            <a:off x="6236208" y="3749040"/>
            <a:ext cx="2606040" cy="502920"/>
          </a:xfrm>
          <a:prstGeom prst="roundRect">
            <a:avLst/>
          </a:prstGeom>
          <a:solidFill>
            <a:srgbClr val="257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300" b="1" dirty="0">
                <a:solidFill>
                  <a:srgbClr val="FFFFFF"/>
                </a:solidFill>
                <a:latin typeface="Calibri"/>
              </a:rPr>
              <a:t>Hazır Sayfalar</a:t>
            </a:r>
          </a:p>
        </p:txBody>
      </p:sp>
      <p:sp>
        <p:nvSpPr>
          <p:cNvPr id="39" name="Card6Bul0"/>
          <p:cNvSpPr txBox="1"/>
          <p:nvPr/>
        </p:nvSpPr>
        <p:spPr>
          <a:xfrm>
            <a:off x="6464808" y="438912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•  Login / Logout</a:t>
            </a:r>
          </a:p>
        </p:txBody>
      </p:sp>
      <p:sp>
        <p:nvSpPr>
          <p:cNvPr id="40" name="Card6Bul1"/>
          <p:cNvSpPr txBox="1"/>
          <p:nvPr/>
        </p:nvSpPr>
        <p:spPr>
          <a:xfrm>
            <a:off x="6464808" y="475488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•  Ana Sayfa (Home)</a:t>
            </a:r>
          </a:p>
        </p:txBody>
      </p:sp>
      <p:sp>
        <p:nvSpPr>
          <p:cNvPr id="41" name="Card6Bul2"/>
          <p:cNvSpPr txBox="1"/>
          <p:nvPr/>
        </p:nvSpPr>
        <p:spPr>
          <a:xfrm>
            <a:off x="6464808" y="512064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•  Şifre Sıfırlama / Değiştirme</a:t>
            </a:r>
          </a:p>
        </p:txBody>
      </p:sp>
      <p:sp>
        <p:nvSpPr>
          <p:cNvPr id="42" name="Card6Bul3"/>
          <p:cNvSpPr txBox="1"/>
          <p:nvPr/>
        </p:nvSpPr>
        <p:spPr>
          <a:xfrm>
            <a:off x="6464808" y="548640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•  User · Org · Role Admin</a:t>
            </a:r>
          </a:p>
        </p:txBody>
      </p:sp>
      <p:sp>
        <p:nvSpPr>
          <p:cNvPr id="43" name="CardBg7"/>
          <p:cNvSpPr/>
          <p:nvPr/>
        </p:nvSpPr>
        <p:spPr>
          <a:xfrm>
            <a:off x="9125712" y="3749040"/>
            <a:ext cx="26060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E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CardHead7"/>
          <p:cNvSpPr/>
          <p:nvPr/>
        </p:nvSpPr>
        <p:spPr>
          <a:xfrm>
            <a:off x="9125712" y="3749040"/>
            <a:ext cx="2606040" cy="502920"/>
          </a:xfrm>
          <a:prstGeom prst="roundRect">
            <a:avLst/>
          </a:prstGeom>
          <a:solidFill>
            <a:srgbClr val="5E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300" b="1" dirty="0">
                <a:solidFill>
                  <a:srgbClr val="FFFFFF"/>
                </a:solidFill>
                <a:latin typeface="Calibri"/>
              </a:rPr>
              <a:t>App Shell</a:t>
            </a:r>
          </a:p>
        </p:txBody>
      </p:sp>
      <p:sp>
        <p:nvSpPr>
          <p:cNvPr id="45" name="Card7Bul0"/>
          <p:cNvSpPr txBox="1"/>
          <p:nvPr/>
        </p:nvSpPr>
        <p:spPr>
          <a:xfrm>
            <a:off x="9354312" y="438912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•  React Router + AuthGuard</a:t>
            </a:r>
          </a:p>
        </p:txBody>
      </p:sp>
      <p:sp>
        <p:nvSpPr>
          <p:cNvPr id="46" name="Card7Bul1"/>
          <p:cNvSpPr txBox="1"/>
          <p:nvPr/>
        </p:nvSpPr>
        <p:spPr>
          <a:xfrm>
            <a:off x="9354312" y="475488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•  Ana Layout (Topbar / Sidebar)</a:t>
            </a:r>
          </a:p>
        </p:txBody>
      </p:sp>
      <p:sp>
        <p:nvSpPr>
          <p:cNvPr id="47" name="Card7Bul2"/>
          <p:cNvSpPr txBox="1"/>
          <p:nvPr/>
        </p:nvSpPr>
        <p:spPr>
          <a:xfrm>
            <a:off x="9354312" y="512064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•  i18n + Tema Sağlayıcı</a:t>
            </a:r>
          </a:p>
        </p:txBody>
      </p:sp>
      <p:sp>
        <p:nvSpPr>
          <p:cNvPr id="48" name="Card7Bul3"/>
          <p:cNvSpPr txBox="1"/>
          <p:nvPr/>
        </p:nvSpPr>
        <p:spPr>
          <a:xfrm>
            <a:off x="9354312" y="548640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100" b="0" dirty="0">
                <a:solidFill>
                  <a:srgbClr val="1F2937"/>
                </a:solidFill>
                <a:latin typeface="Calibri"/>
              </a:rPr>
              <a:t>•  httpClient + ServicePath</a:t>
            </a:r>
          </a:p>
        </p:txBody>
      </p:sp>
      <p:sp>
        <p:nvSpPr>
          <p:cNvPr id="49" name="FooterLeft"/>
          <p:cNvSpPr txBox="1"/>
          <p:nvPr/>
        </p:nvSpPr>
        <p:spPr>
          <a:xfrm>
            <a:off x="457200" y="6537960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000" b="0" dirty="0">
                <a:solidFill>
                  <a:srgbClr val="6B7280"/>
                </a:solidFill>
                <a:latin typeface="Calibri"/>
              </a:rPr>
              <a:t>Codeliman  •  </a:t>
            </a:r>
            <a:r>
              <a:rPr lang="tr-TR" sz="1000" b="0" dirty="0" err="1">
                <a:solidFill>
                  <a:srgbClr val="6B7280"/>
                </a:solidFill>
                <a:latin typeface="Calibri"/>
              </a:rPr>
              <a:t>PlatformSuite</a:t>
            </a:r>
            <a:r>
              <a:rPr lang="tr-TR" sz="1000" b="0" dirty="0">
                <a:solidFill>
                  <a:srgbClr val="6B7280"/>
                </a:solidFill>
                <a:latin typeface="Calibri"/>
              </a:rPr>
              <a:t> •  Haziran 2026</a:t>
            </a:r>
          </a:p>
        </p:txBody>
      </p:sp>
      <p:sp>
        <p:nvSpPr>
          <p:cNvPr id="50" name="FooterRight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tr-TR" sz="1000" b="0" dirty="0">
                <a:solidFill>
                  <a:srgbClr val="6B7280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21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Detail Page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Calibri"/>
              </a:rPr>
              <a:t>Tek sayfa, üç mod, URL-first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743200" cy="64008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EF3C7"/>
                </a:solidFill>
                <a:latin typeface="Consolas"/>
              </a:rPr>
              <a:t>/account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28800" y="2057400"/>
            <a:ext cx="0" cy="274320"/>
          </a:xfrm>
          <a:prstGeom prst="bentConnector3">
            <a:avLst/>
          </a:prstGeom>
          <a:ln w="19050">
            <a:solidFill>
              <a:srgbClr val="6B72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" y="2377440"/>
            <a:ext cx="2743200" cy="914400"/>
          </a:xfrm>
          <a:prstGeom prst="roundRect">
            <a:avLst/>
          </a:prstGeom>
          <a:solidFill>
            <a:srgbClr val="121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Liste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71600"/>
            <a:ext cx="2743200" cy="64008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EF3C7"/>
                </a:solidFill>
                <a:latin typeface="Consolas"/>
              </a:rPr>
              <a:t>/account/new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54880" y="2057400"/>
            <a:ext cx="0" cy="274320"/>
          </a:xfrm>
          <a:prstGeom prst="bentConnector3">
            <a:avLst/>
          </a:prstGeom>
          <a:ln w="19050">
            <a:solidFill>
              <a:srgbClr val="6B72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83280" y="2377440"/>
            <a:ext cx="2743200" cy="914400"/>
          </a:xfrm>
          <a:prstGeom prst="roundRect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Yeni kayıt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71600"/>
            <a:ext cx="2743200" cy="64008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EF3C7"/>
                </a:solidFill>
                <a:latin typeface="Consolas"/>
              </a:rPr>
              <a:t>/account/:id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80960" y="2057400"/>
            <a:ext cx="0" cy="274320"/>
          </a:xfrm>
          <a:prstGeom prst="bentConnector3">
            <a:avLst/>
          </a:prstGeom>
          <a:ln w="19050">
            <a:solidFill>
              <a:srgbClr val="6B72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09360" y="2377440"/>
            <a:ext cx="2743200" cy="914400"/>
          </a:xfrm>
          <a:prstGeom prst="roundRect">
            <a:avLst/>
          </a:prstGeom>
          <a:solidFill>
            <a:srgbClr val="021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Görüntüleme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371600"/>
            <a:ext cx="2743200" cy="64008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EF3C7"/>
                </a:solidFill>
                <a:latin typeface="Consolas"/>
              </a:rPr>
              <a:t>/account/:id/edit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607040" y="2057400"/>
            <a:ext cx="0" cy="274320"/>
          </a:xfrm>
          <a:prstGeom prst="bentConnector3">
            <a:avLst/>
          </a:prstGeom>
          <a:ln w="19050">
            <a:solidFill>
              <a:srgbClr val="6B72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235440" y="2377440"/>
            <a:ext cx="2743200" cy="914400"/>
          </a:xfrm>
          <a:prstGeom prst="roundRect">
            <a:avLst/>
          </a:prstGeom>
          <a:solidFill>
            <a:srgbClr val="002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Düzenleme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57600"/>
            <a:ext cx="11247120" cy="128016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79476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021343"/>
                </a:solidFill>
                <a:latin typeface="Calibri"/>
              </a:rPr>
              <a:t>Mode URL'den okunur, state'te tutulmaz.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9768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Calibri"/>
              </a:rPr>
              <a:t>Tarayıcı geri/ileri tuşu doğru çalışır  •  Derin link paylaşılabilir  •  Tab geri açma çalışır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Calibri"/>
              </a:rPr>
              <a:t>Hepsi DetailPageLayout içinde: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577840"/>
            <a:ext cx="2103120" cy="640080"/>
          </a:xfrm>
          <a:prstGeom prst="roundRect">
            <a:avLst/>
          </a:prstGeom>
          <a:solidFill>
            <a:srgbClr val="121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  Save akışı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5577840"/>
            <a:ext cx="2103120" cy="640080"/>
          </a:xfrm>
          <a:prstGeom prst="roundRect">
            <a:avLst/>
          </a:prstGeom>
          <a:solidFill>
            <a:srgbClr val="54A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  Validasyon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0" y="5577840"/>
            <a:ext cx="2103120" cy="640080"/>
          </a:xfrm>
          <a:prstGeom prst="roundRect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  Mod yönetimi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5577840"/>
            <a:ext cx="2103120" cy="640080"/>
          </a:xfrm>
          <a:prstGeom prst="roundRect">
            <a:avLst/>
          </a:prstGeom>
          <a:solidFill>
            <a:srgbClr val="002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  Dirty guard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5577840"/>
            <a:ext cx="2103120" cy="640080"/>
          </a:xfrm>
          <a:prstGeom prst="roundRect">
            <a:avLst/>
          </a:prstGeom>
          <a:solidFill>
            <a:srgbClr val="021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  Navigasyon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37960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 err="1">
                <a:solidFill>
                  <a:srgbClr val="6B7280"/>
                </a:solidFill>
                <a:latin typeface="Calibri"/>
              </a:rPr>
              <a:t>Codeliman</a:t>
            </a:r>
            <a:r>
              <a:rPr sz="1000" b="0" dirty="0">
                <a:solidFill>
                  <a:srgbClr val="6B7280"/>
                </a:solidFill>
                <a:latin typeface="Calibri"/>
              </a:rPr>
              <a:t>  •  </a:t>
            </a:r>
            <a:r>
              <a:rPr lang="en-US" sz="1000" b="0" dirty="0" err="1">
                <a:solidFill>
                  <a:srgbClr val="6B7280"/>
                </a:solidFill>
                <a:latin typeface="Calibri"/>
              </a:rPr>
              <a:t>PlatformSuite</a:t>
            </a:r>
            <a:r>
              <a:rPr lang="en-US" sz="10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b="0" dirty="0">
                <a:solidFill>
                  <a:srgbClr val="6B7280"/>
                </a:solidFill>
                <a:latin typeface="Calibri"/>
              </a:rPr>
              <a:t>•  Haziran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21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Gerçek Örnek — Account Detail Sayfası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Calibri"/>
              </a:rPr>
              <a:t>20-30 satır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7772400" cy="502920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315200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export function AccountDetailPage() {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 return (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   &lt;DetailPageLayout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     entityType="account"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     useEntityQuery={useAccountQuery}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     useUpsertMutation={useUpsertAccount}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     useDeleteMutation={useDeleteAccount}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     schema={accountSchema}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     title={(mode, data) =&gt;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       mode === 'new' ? 'Yeni Firma' : data?.accountName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     }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   &gt;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     &lt;FormSection title="Genel Bilgiler"&gt;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       &lt;TextField name="accountName" label="Firma Adı" required /&gt;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       &lt;TextField name="accountNumber" label="Firma No"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                  force="readonly" /&gt;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     &lt;/FormSection&gt;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   &lt;/DetailPageLayout&gt;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 );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1188720"/>
            <a:ext cx="3200400" cy="502920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069E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0" y="13716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069E49"/>
                </a:solidFill>
                <a:latin typeface="Calibri"/>
              </a:rPr>
              <a:t>İÇERİDE OLAN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9202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✓  Form instance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31343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✓ 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706624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✓  Loading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099816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✓  Error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49300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✓  Save / Cancel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8862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>
                <a:solidFill>
                  <a:srgbClr val="1F2937"/>
                </a:solidFill>
                <a:latin typeface="Calibri"/>
              </a:rPr>
              <a:t>✓  </a:t>
            </a:r>
            <a:r>
              <a:rPr sz="1200" b="1">
                <a:solidFill>
                  <a:srgbClr val="1F2937"/>
                </a:solidFill>
                <a:latin typeface="Calibri"/>
              </a:rPr>
              <a:t>Delete + </a:t>
            </a:r>
            <a:r>
              <a:rPr sz="1200" b="1" dirty="0">
                <a:solidFill>
                  <a:srgbClr val="1F2937"/>
                </a:solidFill>
                <a:latin typeface="Calibri"/>
              </a:rPr>
              <a:t>confirm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427939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✓  Mode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672584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✓  Dirty guard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5065776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✓  Navigasyon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545896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✓  Title formatting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 err="1">
                <a:solidFill>
                  <a:srgbClr val="6B7280"/>
                </a:solidFill>
                <a:latin typeface="Calibri"/>
              </a:rPr>
              <a:t>Codeliman</a:t>
            </a:r>
            <a:r>
              <a:rPr sz="1000" b="0" dirty="0">
                <a:solidFill>
                  <a:srgbClr val="6B7280"/>
                </a:solidFill>
                <a:latin typeface="Calibri"/>
              </a:rPr>
              <a:t>  •  </a:t>
            </a:r>
            <a:r>
              <a:rPr lang="en-US" sz="1000" b="0" dirty="0" err="1">
                <a:solidFill>
                  <a:srgbClr val="6B7280"/>
                </a:solidFill>
                <a:latin typeface="Calibri"/>
              </a:rPr>
              <a:t>PlatformSuite</a:t>
            </a:r>
            <a:r>
              <a:rPr lang="en-US" sz="10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b="0" dirty="0">
                <a:solidFill>
                  <a:srgbClr val="6B7280"/>
                </a:solidFill>
                <a:latin typeface="Calibri"/>
              </a:rPr>
              <a:t>•  Haziran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213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137160"/>
            <a:ext cx="1127729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latin typeface="Calibri"/>
              </a:rPr>
              <a:t>Backend </a:t>
            </a:r>
            <a:r>
              <a:rPr lang="tr-TR" sz="2600" b="1" dirty="0">
                <a:solidFill>
                  <a:srgbClr val="FFFFFF"/>
                </a:solidFill>
              </a:rPr>
              <a:t>Altyapısı</a:t>
            </a:r>
            <a:endParaRPr sz="26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Subtitle"/>
          <p:cNvSpPr txBox="1"/>
          <p:nvPr/>
        </p:nvSpPr>
        <p:spPr>
          <a:xfrm>
            <a:off x="457200" y="50292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Calibri"/>
              </a:rPr>
              <a:t>Clean Architecture + MediatR  •  Her feature aynı patern</a:t>
            </a:r>
          </a:p>
        </p:txBody>
      </p:sp>
      <p:sp>
        <p:nvSpPr>
          <p:cNvPr id="5" name="Accent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9E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ard"/>
          <p:cNvSpPr/>
          <p:nvPr/>
        </p:nvSpPr>
        <p:spPr>
          <a:xfrm>
            <a:off x="457200" y="1188720"/>
            <a:ext cx="365760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2114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ardHead"/>
          <p:cNvSpPr/>
          <p:nvPr/>
        </p:nvSpPr>
        <p:spPr>
          <a:xfrm>
            <a:off x="457200" y="1188720"/>
            <a:ext cx="3657600" cy="502920"/>
          </a:xfrm>
          <a:prstGeom prst="roundRect">
            <a:avLst/>
          </a:prstGeom>
          <a:solidFill>
            <a:srgbClr val="121147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CQRS</a:t>
            </a:r>
          </a:p>
        </p:txBody>
      </p:sp>
      <p:sp>
        <p:nvSpPr>
          <p:cNvPr id="8" name="Item"/>
          <p:cNvSpPr txBox="1"/>
          <p:nvPr/>
        </p:nvSpPr>
        <p:spPr>
          <a:xfrm>
            <a:off x="685800" y="182880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 ICommand&lt;T&gt;</a:t>
            </a:r>
          </a:p>
        </p:txBody>
      </p:sp>
      <p:sp>
        <p:nvSpPr>
          <p:cNvPr id="9" name="Item"/>
          <p:cNvSpPr txBox="1"/>
          <p:nvPr/>
        </p:nvSpPr>
        <p:spPr>
          <a:xfrm>
            <a:off x="685800" y="21945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 IQuery&lt;T&gt;</a:t>
            </a:r>
          </a:p>
        </p:txBody>
      </p:sp>
      <p:sp>
        <p:nvSpPr>
          <p:cNvPr id="10" name="Item"/>
          <p:cNvSpPr txBox="1"/>
          <p:nvPr/>
        </p:nvSpPr>
        <p:spPr>
          <a:xfrm>
            <a:off x="685800" y="256032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 ISender</a:t>
            </a:r>
          </a:p>
        </p:txBody>
      </p:sp>
      <p:sp>
        <p:nvSpPr>
          <p:cNvPr id="11" name="Item"/>
          <p:cNvSpPr txBox="1"/>
          <p:nvPr/>
        </p:nvSpPr>
        <p:spPr>
          <a:xfrm>
            <a:off x="685800" y="292608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 MediatR</a:t>
            </a:r>
          </a:p>
        </p:txBody>
      </p:sp>
      <p:sp>
        <p:nvSpPr>
          <p:cNvPr id="12" name="Card"/>
          <p:cNvSpPr/>
          <p:nvPr/>
        </p:nvSpPr>
        <p:spPr>
          <a:xfrm>
            <a:off x="4343400" y="1188720"/>
            <a:ext cx="365760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4ADD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ardHead"/>
          <p:cNvSpPr/>
          <p:nvPr/>
        </p:nvSpPr>
        <p:spPr>
          <a:xfrm>
            <a:off x="4343400" y="1188720"/>
            <a:ext cx="3657600" cy="502920"/>
          </a:xfrm>
          <a:prstGeom prst="roundRect">
            <a:avLst/>
          </a:prstGeom>
          <a:solidFill>
            <a:srgbClr val="54ADD3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Pipeline</a:t>
            </a:r>
          </a:p>
        </p:txBody>
      </p:sp>
      <p:sp>
        <p:nvSpPr>
          <p:cNvPr id="14" name="Item"/>
          <p:cNvSpPr txBox="1"/>
          <p:nvPr/>
        </p:nvSpPr>
        <p:spPr>
          <a:xfrm>
            <a:off x="4572000" y="182880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 ValidationBehavior</a:t>
            </a:r>
          </a:p>
        </p:txBody>
      </p:sp>
      <p:sp>
        <p:nvSpPr>
          <p:cNvPr id="15" name="Item"/>
          <p:cNvSpPr txBox="1"/>
          <p:nvPr/>
        </p:nvSpPr>
        <p:spPr>
          <a:xfrm>
            <a:off x="4572000" y="21945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 AuthorizationBehavior</a:t>
            </a:r>
          </a:p>
        </p:txBody>
      </p:sp>
      <p:sp>
        <p:nvSpPr>
          <p:cNvPr id="16" name="Item"/>
          <p:cNvSpPr txBox="1"/>
          <p:nvPr/>
        </p:nvSpPr>
        <p:spPr>
          <a:xfrm>
            <a:off x="4572000" y="256032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 TransactionBehavior</a:t>
            </a:r>
          </a:p>
        </p:txBody>
      </p:sp>
      <p:sp>
        <p:nvSpPr>
          <p:cNvPr id="17" name="Item"/>
          <p:cNvSpPr txBox="1"/>
          <p:nvPr/>
        </p:nvSpPr>
        <p:spPr>
          <a:xfrm>
            <a:off x="4572000" y="292608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 LoggingBehavior</a:t>
            </a:r>
          </a:p>
        </p:txBody>
      </p:sp>
      <p:sp>
        <p:nvSpPr>
          <p:cNvPr id="18" name="Card"/>
          <p:cNvSpPr/>
          <p:nvPr/>
        </p:nvSpPr>
        <p:spPr>
          <a:xfrm>
            <a:off x="8229600" y="1188720"/>
            <a:ext cx="365760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9E4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ardHead"/>
          <p:cNvSpPr/>
          <p:nvPr/>
        </p:nvSpPr>
        <p:spPr>
          <a:xfrm>
            <a:off x="8229600" y="1188720"/>
            <a:ext cx="3657600" cy="502920"/>
          </a:xfrm>
          <a:prstGeom prst="roundRect">
            <a:avLst/>
          </a:prstGeom>
          <a:solidFill>
            <a:srgbClr val="069E49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Validation</a:t>
            </a:r>
          </a:p>
        </p:txBody>
      </p:sp>
      <p:sp>
        <p:nvSpPr>
          <p:cNvPr id="20" name="Item"/>
          <p:cNvSpPr txBox="1"/>
          <p:nvPr/>
        </p:nvSpPr>
        <p:spPr>
          <a:xfrm>
            <a:off x="8458200" y="182880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 FluentValidation (input)</a:t>
            </a:r>
          </a:p>
        </p:txBody>
      </p:sp>
      <p:sp>
        <p:nvSpPr>
          <p:cNvPr id="21" name="Item"/>
          <p:cNvSpPr txBox="1"/>
          <p:nvPr/>
        </p:nvSpPr>
        <p:spPr>
          <a:xfrm>
            <a:off x="8458200" y="21945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 Result.Failure (business)</a:t>
            </a:r>
          </a:p>
        </p:txBody>
      </p:sp>
      <p:sp>
        <p:nvSpPr>
          <p:cNvPr id="22" name="Item"/>
          <p:cNvSpPr txBox="1"/>
          <p:nvPr/>
        </p:nvSpPr>
        <p:spPr>
          <a:xfrm>
            <a:off x="8458200" y="256032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 Entity invariant</a:t>
            </a:r>
          </a:p>
        </p:txBody>
      </p:sp>
      <p:sp>
        <p:nvSpPr>
          <p:cNvPr id="23" name="Card"/>
          <p:cNvSpPr/>
          <p:nvPr/>
        </p:nvSpPr>
        <p:spPr>
          <a:xfrm>
            <a:off x="457200" y="3749040"/>
            <a:ext cx="365760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82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CardHead"/>
          <p:cNvSpPr/>
          <p:nvPr/>
        </p:nvSpPr>
        <p:spPr>
          <a:xfrm>
            <a:off x="457200" y="3749040"/>
            <a:ext cx="3657600" cy="502920"/>
          </a:xfrm>
          <a:prstGeom prst="roundRect">
            <a:avLst/>
          </a:prstGeom>
          <a:solidFill>
            <a:srgbClr val="00282A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Persistence</a:t>
            </a:r>
          </a:p>
        </p:txBody>
      </p:sp>
      <p:sp>
        <p:nvSpPr>
          <p:cNvPr id="25" name="Item"/>
          <p:cNvSpPr txBox="1"/>
          <p:nvPr/>
        </p:nvSpPr>
        <p:spPr>
          <a:xfrm>
            <a:off x="685800" y="438912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 EF Core 10</a:t>
            </a:r>
          </a:p>
        </p:txBody>
      </p:sp>
      <p:sp>
        <p:nvSpPr>
          <p:cNvPr id="26" name="Item"/>
          <p:cNvSpPr txBox="1"/>
          <p:nvPr/>
        </p:nvSpPr>
        <p:spPr>
          <a:xfrm>
            <a:off x="685800" y="475488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 Repository</a:t>
            </a:r>
          </a:p>
        </p:txBody>
      </p:sp>
      <p:sp>
        <p:nvSpPr>
          <p:cNvPr id="27" name="Item"/>
          <p:cNvSpPr txBox="1"/>
          <p:nvPr/>
        </p:nvSpPr>
        <p:spPr>
          <a:xfrm>
            <a:off x="685800" y="512064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 IUnitOfWork</a:t>
            </a:r>
          </a:p>
        </p:txBody>
      </p:sp>
      <p:sp>
        <p:nvSpPr>
          <p:cNvPr id="28" name="Item"/>
          <p:cNvSpPr txBox="1"/>
          <p:nvPr/>
        </p:nvSpPr>
        <p:spPr>
          <a:xfrm>
            <a:off x="685800" y="548640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 PostgreSQL</a:t>
            </a:r>
          </a:p>
        </p:txBody>
      </p:sp>
      <p:sp>
        <p:nvSpPr>
          <p:cNvPr id="29" name="Card"/>
          <p:cNvSpPr/>
          <p:nvPr/>
        </p:nvSpPr>
        <p:spPr>
          <a:xfrm>
            <a:off x="4343400" y="3749040"/>
            <a:ext cx="365760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134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CardHead"/>
          <p:cNvSpPr/>
          <p:nvPr/>
        </p:nvSpPr>
        <p:spPr>
          <a:xfrm>
            <a:off x="4343400" y="3749040"/>
            <a:ext cx="3657600" cy="502920"/>
          </a:xfrm>
          <a:prstGeom prst="roundRect">
            <a:avLst/>
          </a:prstGeom>
          <a:solidFill>
            <a:srgbClr val="021343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Mapping</a:t>
            </a:r>
          </a:p>
        </p:txBody>
      </p:sp>
      <p:sp>
        <p:nvSpPr>
          <p:cNvPr id="31" name="Item"/>
          <p:cNvSpPr txBox="1"/>
          <p:nvPr/>
        </p:nvSpPr>
        <p:spPr>
          <a:xfrm>
            <a:off x="4572000" y="438912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 Mapster</a:t>
            </a:r>
          </a:p>
        </p:txBody>
      </p:sp>
      <p:sp>
        <p:nvSpPr>
          <p:cNvPr id="32" name="Item"/>
          <p:cNvSpPr txBox="1"/>
          <p:nvPr/>
        </p:nvSpPr>
        <p:spPr>
          <a:xfrm>
            <a:off x="4572000" y="475488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 .ProjectToType&lt;T&gt;()</a:t>
            </a:r>
          </a:p>
        </p:txBody>
      </p:sp>
      <p:sp>
        <p:nvSpPr>
          <p:cNvPr id="33" name="Item"/>
          <p:cNvSpPr txBox="1"/>
          <p:nvPr/>
        </p:nvSpPr>
        <p:spPr>
          <a:xfrm>
            <a:off x="4572000" y="512064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 MappingConfig</a:t>
            </a:r>
          </a:p>
        </p:txBody>
      </p:sp>
      <p:sp>
        <p:nvSpPr>
          <p:cNvPr id="34" name="Card"/>
          <p:cNvSpPr/>
          <p:nvPr/>
        </p:nvSpPr>
        <p:spPr>
          <a:xfrm>
            <a:off x="8229600" y="3749040"/>
            <a:ext cx="365760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BF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CardHead"/>
          <p:cNvSpPr/>
          <p:nvPr/>
        </p:nvSpPr>
        <p:spPr>
          <a:xfrm>
            <a:off x="8229600" y="3749040"/>
            <a:ext cx="3657600" cy="502920"/>
          </a:xfrm>
          <a:prstGeom prst="roundRect">
            <a:avLst/>
          </a:prstGeom>
          <a:solidFill>
            <a:srgbClr val="007BFF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Result &amp; Error</a:t>
            </a:r>
          </a:p>
        </p:txBody>
      </p:sp>
      <p:sp>
        <p:nvSpPr>
          <p:cNvPr id="36" name="Item"/>
          <p:cNvSpPr txBox="1"/>
          <p:nvPr/>
        </p:nvSpPr>
        <p:spPr>
          <a:xfrm>
            <a:off x="8458200" y="438912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 Result&lt;T&gt;</a:t>
            </a:r>
          </a:p>
        </p:txBody>
      </p:sp>
      <p:sp>
        <p:nvSpPr>
          <p:cNvPr id="37" name="Item"/>
          <p:cNvSpPr txBox="1"/>
          <p:nvPr/>
        </p:nvSpPr>
        <p:spPr>
          <a:xfrm>
            <a:off x="8458200" y="475488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 &lt;Entity&gt;Errors (static)</a:t>
            </a:r>
          </a:p>
        </p:txBody>
      </p:sp>
      <p:sp>
        <p:nvSpPr>
          <p:cNvPr id="38" name="Item"/>
          <p:cNvSpPr txBox="1"/>
          <p:nvPr/>
        </p:nvSpPr>
        <p:spPr>
          <a:xfrm>
            <a:off x="8458200" y="512064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 ProblemDetails (RFC 7807)</a:t>
            </a:r>
          </a:p>
        </p:txBody>
      </p:sp>
      <p:sp>
        <p:nvSpPr>
          <p:cNvPr id="39" name="Item"/>
          <p:cNvSpPr txBox="1"/>
          <p:nvPr/>
        </p:nvSpPr>
        <p:spPr>
          <a:xfrm>
            <a:off x="8458200" y="548640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 ToActionResult()</a:t>
            </a:r>
          </a:p>
        </p:txBody>
      </p:sp>
      <p:sp>
        <p:nvSpPr>
          <p:cNvPr id="40" name="FooterText"/>
          <p:cNvSpPr txBox="1"/>
          <p:nvPr/>
        </p:nvSpPr>
        <p:spPr>
          <a:xfrm>
            <a:off x="457200" y="6537960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 err="1">
                <a:solidFill>
                  <a:srgbClr val="6B7280"/>
                </a:solidFill>
                <a:latin typeface="Calibri"/>
              </a:rPr>
              <a:t>Codeliman</a:t>
            </a:r>
            <a:r>
              <a:rPr sz="1000" b="0" dirty="0">
                <a:solidFill>
                  <a:srgbClr val="6B7280"/>
                </a:solidFill>
                <a:latin typeface="Calibri"/>
              </a:rPr>
              <a:t>  •  </a:t>
            </a:r>
            <a:r>
              <a:rPr lang="en-US" sz="1000" b="0" dirty="0" err="1">
                <a:solidFill>
                  <a:srgbClr val="6B7280"/>
                </a:solidFill>
                <a:latin typeface="Calibri"/>
              </a:rPr>
              <a:t>PlatformSuite</a:t>
            </a:r>
            <a:r>
              <a:rPr lang="en-US" sz="10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b="0" dirty="0">
                <a:solidFill>
                  <a:srgbClr val="6B7280"/>
                </a:solidFill>
                <a:latin typeface="Calibri"/>
              </a:rPr>
              <a:t>•  Haziran 2026</a:t>
            </a:r>
          </a:p>
        </p:txBody>
      </p:sp>
      <p:sp>
        <p:nvSpPr>
          <p:cNvPr id="41" name="PageNum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213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137160"/>
            <a:ext cx="1127729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Feature Pattern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50292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Calibri"/>
              </a:rPr>
              <a:t>Tek endpoint, ayrı sorumluluk, otomatik pipeline</a:t>
            </a:r>
          </a:p>
        </p:txBody>
      </p:sp>
      <p:sp>
        <p:nvSpPr>
          <p:cNvPr id="5" name="Accent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9E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"/>
          <p:cNvSpPr/>
          <p:nvPr/>
        </p:nvSpPr>
        <p:spPr>
          <a:xfrm>
            <a:off x="457200" y="1371600"/>
            <a:ext cx="2743200" cy="64008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EF3C7"/>
                </a:solidFill>
                <a:latin typeface="Consolas"/>
              </a:rPr>
              <a:t>POST /api/account/list</a:t>
            </a:r>
          </a:p>
        </p:txBody>
      </p:sp>
      <p:cxnSp>
        <p:nvCxnSpPr>
          <p:cNvPr id="7" name="Arrow"/>
          <p:cNvCxnSpPr/>
          <p:nvPr/>
        </p:nvCxnSpPr>
        <p:spPr>
          <a:xfrm>
            <a:off x="1828800" y="2057400"/>
            <a:ext cx="0" cy="274320"/>
          </a:xfrm>
          <a:prstGeom prst="bentConnector3">
            <a:avLst/>
          </a:prstGeom>
          <a:ln w="19050">
            <a:solidFill>
              <a:srgbClr val="6B72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"/>
          <p:cNvSpPr/>
          <p:nvPr/>
        </p:nvSpPr>
        <p:spPr>
          <a:xfrm>
            <a:off x="457200" y="2377440"/>
            <a:ext cx="2743200" cy="914400"/>
          </a:xfrm>
          <a:prstGeom prst="roundRect">
            <a:avLst/>
          </a:prstGeom>
          <a:solidFill>
            <a:srgbClr val="121147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ListAccountsQuery</a:t>
            </a:r>
          </a:p>
        </p:txBody>
      </p:sp>
      <p:sp>
        <p:nvSpPr>
          <p:cNvPr id="9" name="Rect"/>
          <p:cNvSpPr/>
          <p:nvPr/>
        </p:nvSpPr>
        <p:spPr>
          <a:xfrm>
            <a:off x="3383280" y="1371600"/>
            <a:ext cx="2743200" cy="64008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EF3C7"/>
                </a:solidFill>
                <a:latin typeface="Consolas"/>
              </a:rPr>
              <a:t>POST /api/account/get</a:t>
            </a:r>
          </a:p>
        </p:txBody>
      </p:sp>
      <p:cxnSp>
        <p:nvCxnSpPr>
          <p:cNvPr id="10" name="Arrow"/>
          <p:cNvCxnSpPr/>
          <p:nvPr/>
        </p:nvCxnSpPr>
        <p:spPr>
          <a:xfrm>
            <a:off x="4754880" y="2057400"/>
            <a:ext cx="0" cy="274320"/>
          </a:xfrm>
          <a:prstGeom prst="bentConnector3">
            <a:avLst/>
          </a:prstGeom>
          <a:ln w="19050">
            <a:solidFill>
              <a:srgbClr val="6B72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"/>
          <p:cNvSpPr/>
          <p:nvPr/>
        </p:nvSpPr>
        <p:spPr>
          <a:xfrm>
            <a:off x="3383280" y="2377440"/>
            <a:ext cx="2743200" cy="914400"/>
          </a:xfrm>
          <a:prstGeom prst="roundRect">
            <a:avLst/>
          </a:prstGeom>
          <a:solidFill>
            <a:srgbClr val="069E49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GetAccountQuery</a:t>
            </a:r>
          </a:p>
        </p:txBody>
      </p:sp>
      <p:sp>
        <p:nvSpPr>
          <p:cNvPr id="12" name="Rect"/>
          <p:cNvSpPr/>
          <p:nvPr/>
        </p:nvSpPr>
        <p:spPr>
          <a:xfrm>
            <a:off x="6309360" y="1371600"/>
            <a:ext cx="2743200" cy="64008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EF3C7"/>
                </a:solidFill>
                <a:latin typeface="Consolas"/>
              </a:rPr>
              <a:t>POST /api/account/create</a:t>
            </a:r>
          </a:p>
        </p:txBody>
      </p:sp>
      <p:cxnSp>
        <p:nvCxnSpPr>
          <p:cNvPr id="13" name="Arrow"/>
          <p:cNvCxnSpPr/>
          <p:nvPr/>
        </p:nvCxnSpPr>
        <p:spPr>
          <a:xfrm>
            <a:off x="7680960" y="2057400"/>
            <a:ext cx="0" cy="274320"/>
          </a:xfrm>
          <a:prstGeom prst="bentConnector3">
            <a:avLst/>
          </a:prstGeom>
          <a:ln w="19050">
            <a:solidFill>
              <a:srgbClr val="6B72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"/>
          <p:cNvSpPr/>
          <p:nvPr/>
        </p:nvSpPr>
        <p:spPr>
          <a:xfrm>
            <a:off x="6309360" y="2377440"/>
            <a:ext cx="2743200" cy="914400"/>
          </a:xfrm>
          <a:prstGeom prst="roundRect">
            <a:avLst/>
          </a:prstGeom>
          <a:solidFill>
            <a:srgbClr val="00282A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CreateAccountCommand</a:t>
            </a:r>
          </a:p>
        </p:txBody>
      </p:sp>
      <p:sp>
        <p:nvSpPr>
          <p:cNvPr id="15" name="Rect"/>
          <p:cNvSpPr/>
          <p:nvPr/>
        </p:nvSpPr>
        <p:spPr>
          <a:xfrm>
            <a:off x="9235440" y="1371600"/>
            <a:ext cx="2743200" cy="64008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EF3C7"/>
                </a:solidFill>
                <a:latin typeface="Consolas"/>
              </a:rPr>
              <a:t>POST /api/account/delete</a:t>
            </a:r>
          </a:p>
        </p:txBody>
      </p:sp>
      <p:cxnSp>
        <p:nvCxnSpPr>
          <p:cNvPr id="16" name="Arrow"/>
          <p:cNvCxnSpPr/>
          <p:nvPr/>
        </p:nvCxnSpPr>
        <p:spPr>
          <a:xfrm>
            <a:off x="10607040" y="2057400"/>
            <a:ext cx="0" cy="274320"/>
          </a:xfrm>
          <a:prstGeom prst="bentConnector3">
            <a:avLst/>
          </a:prstGeom>
          <a:ln w="19050">
            <a:solidFill>
              <a:srgbClr val="6B72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"/>
          <p:cNvSpPr/>
          <p:nvPr/>
        </p:nvSpPr>
        <p:spPr>
          <a:xfrm>
            <a:off x="9235440" y="2377440"/>
            <a:ext cx="2743200" cy="914400"/>
          </a:xfrm>
          <a:prstGeom prst="roundRect">
            <a:avLst/>
          </a:prstGeom>
          <a:solidFill>
            <a:srgbClr val="007BFF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DeleteAccountCommand</a:t>
            </a:r>
          </a:p>
        </p:txBody>
      </p:sp>
      <p:sp>
        <p:nvSpPr>
          <p:cNvPr id="18" name="Rect"/>
          <p:cNvSpPr/>
          <p:nvPr/>
        </p:nvSpPr>
        <p:spPr>
          <a:xfrm>
            <a:off x="457200" y="3657600"/>
            <a:ext cx="11247120" cy="128016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Text"/>
          <p:cNvSpPr txBox="1"/>
          <p:nvPr/>
        </p:nvSpPr>
        <p:spPr>
          <a:xfrm>
            <a:off x="914400" y="379476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021343"/>
                </a:solidFill>
                <a:latin typeface="Calibri"/>
              </a:rPr>
              <a:t>Controller tek satır.  Pipeline her şeyi sarar.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914400" y="429768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Consolas"/>
              </a:rPr>
              <a:t>Request  →  Validation  →  Authorization  →  Transaction  →  Handler  →  Result  →  ProblemDetails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Calibri"/>
              </a:rPr>
              <a:t>Pipeline otomatik:</a:t>
            </a:r>
          </a:p>
        </p:txBody>
      </p:sp>
      <p:sp>
        <p:nvSpPr>
          <p:cNvPr id="22" name="Rect"/>
          <p:cNvSpPr/>
          <p:nvPr/>
        </p:nvSpPr>
        <p:spPr>
          <a:xfrm>
            <a:off x="457200" y="5577840"/>
            <a:ext cx="2103120" cy="640080"/>
          </a:xfrm>
          <a:prstGeom prst="roundRect">
            <a:avLst/>
          </a:prstGeom>
          <a:solidFill>
            <a:srgbClr val="121147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  Input validation</a:t>
            </a:r>
          </a:p>
        </p:txBody>
      </p:sp>
      <p:sp>
        <p:nvSpPr>
          <p:cNvPr id="23" name="Rect"/>
          <p:cNvSpPr/>
          <p:nvPr/>
        </p:nvSpPr>
        <p:spPr>
          <a:xfrm>
            <a:off x="2743200" y="5577840"/>
            <a:ext cx="2103120" cy="640080"/>
          </a:xfrm>
          <a:prstGeom prst="roundRect">
            <a:avLst/>
          </a:prstGeom>
          <a:solidFill>
            <a:srgbClr val="54ADD3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  Privilege</a:t>
            </a:r>
          </a:p>
        </p:txBody>
      </p:sp>
      <p:sp>
        <p:nvSpPr>
          <p:cNvPr id="24" name="Rect"/>
          <p:cNvSpPr/>
          <p:nvPr/>
        </p:nvSpPr>
        <p:spPr>
          <a:xfrm>
            <a:off x="5029200" y="5577840"/>
            <a:ext cx="2103120" cy="640080"/>
          </a:xfrm>
          <a:prstGeom prst="roundRect">
            <a:avLst/>
          </a:prstGeom>
          <a:solidFill>
            <a:srgbClr val="069E49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  Transaction</a:t>
            </a:r>
          </a:p>
        </p:txBody>
      </p:sp>
      <p:sp>
        <p:nvSpPr>
          <p:cNvPr id="25" name="Rect"/>
          <p:cNvSpPr/>
          <p:nvPr/>
        </p:nvSpPr>
        <p:spPr>
          <a:xfrm>
            <a:off x="7315200" y="5577840"/>
            <a:ext cx="2103120" cy="640080"/>
          </a:xfrm>
          <a:prstGeom prst="roundRect">
            <a:avLst/>
          </a:prstGeom>
          <a:solidFill>
            <a:srgbClr val="00282A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  Result → HTTP</a:t>
            </a:r>
          </a:p>
        </p:txBody>
      </p:sp>
      <p:sp>
        <p:nvSpPr>
          <p:cNvPr id="26" name="Rect"/>
          <p:cNvSpPr/>
          <p:nvPr/>
        </p:nvSpPr>
        <p:spPr>
          <a:xfrm>
            <a:off x="9601200" y="5577840"/>
            <a:ext cx="2103120" cy="640080"/>
          </a:xfrm>
          <a:prstGeom prst="roundRect">
            <a:avLst/>
          </a:prstGeom>
          <a:solidFill>
            <a:srgbClr val="021343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  ProblemDetails</a:t>
            </a:r>
          </a:p>
        </p:txBody>
      </p:sp>
      <p:sp>
        <p:nvSpPr>
          <p:cNvPr id="27" name="FooterText"/>
          <p:cNvSpPr txBox="1"/>
          <p:nvPr/>
        </p:nvSpPr>
        <p:spPr>
          <a:xfrm>
            <a:off x="457200" y="6537960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 err="1">
                <a:solidFill>
                  <a:srgbClr val="6B7280"/>
                </a:solidFill>
                <a:latin typeface="Calibri"/>
              </a:rPr>
              <a:t>Codeliman</a:t>
            </a:r>
            <a:r>
              <a:rPr sz="1000" b="0" dirty="0">
                <a:solidFill>
                  <a:srgbClr val="6B7280"/>
                </a:solidFill>
                <a:latin typeface="Calibri"/>
              </a:rPr>
              <a:t>  •  </a:t>
            </a:r>
            <a:r>
              <a:rPr lang="en-US" sz="1000" b="0" dirty="0" err="1">
                <a:solidFill>
                  <a:srgbClr val="6B7280"/>
                </a:solidFill>
                <a:latin typeface="Calibri"/>
              </a:rPr>
              <a:t>PlatformSuite</a:t>
            </a:r>
            <a:r>
              <a:rPr lang="en-US" sz="10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b="0" dirty="0">
                <a:solidFill>
                  <a:srgbClr val="6B7280"/>
                </a:solidFill>
                <a:latin typeface="Calibri"/>
              </a:rPr>
              <a:t>•  Haziran 2026</a:t>
            </a:r>
          </a:p>
        </p:txBody>
      </p:sp>
      <p:sp>
        <p:nvSpPr>
          <p:cNvPr id="28" name="PageNum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213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137160"/>
            <a:ext cx="1127729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Gerçek Örnek — CreateAccountCommand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50292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Calibri"/>
              </a:rPr>
              <a:t>Command + Handler + Controller  •  Pipeline geri kalanı sarar</a:t>
            </a:r>
          </a:p>
        </p:txBody>
      </p:sp>
      <p:sp>
        <p:nvSpPr>
          <p:cNvPr id="5" name="Accent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9E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odePanel"/>
          <p:cNvSpPr/>
          <p:nvPr/>
        </p:nvSpPr>
        <p:spPr>
          <a:xfrm>
            <a:off x="457200" y="1188720"/>
            <a:ext cx="7772400" cy="502920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odeText"/>
          <p:cNvSpPr txBox="1"/>
          <p:nvPr/>
        </p:nvSpPr>
        <p:spPr>
          <a:xfrm>
            <a:off x="914400" y="1418079"/>
            <a:ext cx="7223760" cy="4570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dirty="0">
                <a:solidFill>
                  <a:srgbClr val="FFFFFF"/>
                </a:solidFill>
                <a:latin typeface="Consolas"/>
              </a:rPr>
              <a:t>public record 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CreateAccountCommand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(</a:t>
            </a:r>
          </a:p>
          <a:p>
            <a:pPr algn="l"/>
            <a:r>
              <a:rPr sz="900" b="0" dirty="0">
                <a:solidFill>
                  <a:srgbClr val="FFFFFF"/>
                </a:solidFill>
                <a:latin typeface="Consolas"/>
              </a:rPr>
              <a:t>    string 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AccountName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, string 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AccountNumber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)</a:t>
            </a:r>
          </a:p>
          <a:p>
            <a:pPr algn="l"/>
            <a:r>
              <a:rPr sz="900" b="0" dirty="0">
                <a:solidFill>
                  <a:srgbClr val="FFFFFF"/>
                </a:solidFill>
                <a:latin typeface="Consolas"/>
              </a:rPr>
              <a:t>    : 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ICommand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&lt;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Guid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&gt;;</a:t>
            </a:r>
          </a:p>
          <a:p>
            <a:pPr algn="l"/>
            <a:endParaRPr sz="900" b="0" dirty="0">
              <a:solidFill>
                <a:srgbClr val="FFFFFF"/>
              </a:solidFill>
              <a:latin typeface="Consolas"/>
            </a:endParaRPr>
          </a:p>
          <a:p>
            <a:pPr algn="l"/>
            <a:r>
              <a:rPr sz="900" b="0" dirty="0">
                <a:solidFill>
                  <a:srgbClr val="FFFFFF"/>
                </a:solidFill>
                <a:latin typeface="Consolas"/>
              </a:rPr>
              <a:t>public class 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CreateAccountValidator</a:t>
            </a:r>
            <a:endParaRPr sz="900" b="0" dirty="0">
              <a:solidFill>
                <a:srgbClr val="FFFFFF"/>
              </a:solidFill>
              <a:latin typeface="Consolas"/>
            </a:endParaRPr>
          </a:p>
          <a:p>
            <a:pPr algn="l"/>
            <a:r>
              <a:rPr sz="900" b="0" dirty="0">
                <a:solidFill>
                  <a:srgbClr val="FFFFFF"/>
                </a:solidFill>
                <a:latin typeface="Consolas"/>
              </a:rPr>
              <a:t>    : 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AbstractValidator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&lt;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CreateAccountCommand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&gt;</a:t>
            </a:r>
          </a:p>
          <a:p>
            <a:pPr algn="l"/>
            <a:r>
              <a:rPr sz="900" b="0" dirty="0">
                <a:solidFill>
                  <a:srgbClr val="FFFFFF"/>
                </a:solidFill>
                <a:latin typeface="Consolas"/>
              </a:rPr>
              <a:t>{</a:t>
            </a:r>
          </a:p>
          <a:p>
            <a:pPr algn="l"/>
            <a:r>
              <a:rPr sz="900" b="0" dirty="0">
                <a:solidFill>
                  <a:srgbClr val="FFFFFF"/>
                </a:solidFill>
                <a:latin typeface="Consolas"/>
              </a:rPr>
              <a:t>    public 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CreateAccountValidator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() {</a:t>
            </a:r>
          </a:p>
          <a:p>
            <a:pPr algn="l"/>
            <a:r>
              <a:rPr sz="900" b="0" dirty="0">
                <a:solidFill>
                  <a:srgbClr val="FFFFFF"/>
                </a:solidFill>
                <a:latin typeface="Consolas"/>
              </a:rPr>
              <a:t>        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RuleFor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(x =&gt; 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x.AccountName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).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NotEmpty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().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MaxLength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(200);</a:t>
            </a:r>
          </a:p>
          <a:p>
            <a:pPr algn="l"/>
            <a:r>
              <a:rPr sz="900" b="0" dirty="0">
                <a:solidFill>
                  <a:srgbClr val="FFFFFF"/>
                </a:solidFill>
                <a:latin typeface="Consolas"/>
              </a:rPr>
              <a:t>        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RuleFor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(x =&gt; 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x.AccountNumber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).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NotEmpty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();</a:t>
            </a:r>
          </a:p>
          <a:p>
            <a:pPr algn="l"/>
            <a:r>
              <a:rPr sz="900" b="0" dirty="0">
                <a:solidFill>
                  <a:srgbClr val="FFFFFF"/>
                </a:solidFill>
                <a:latin typeface="Consolas"/>
              </a:rPr>
              <a:t>    }</a:t>
            </a:r>
          </a:p>
          <a:p>
            <a:pPr algn="l"/>
            <a:r>
              <a:rPr sz="900" b="0" dirty="0">
                <a:solidFill>
                  <a:srgbClr val="FFFFFF"/>
                </a:solidFill>
                <a:latin typeface="Consolas"/>
              </a:rPr>
              <a:t>}</a:t>
            </a:r>
          </a:p>
          <a:p>
            <a:pPr algn="l"/>
            <a:endParaRPr sz="900" b="0" dirty="0">
              <a:solidFill>
                <a:srgbClr val="FFFFFF"/>
              </a:solidFill>
              <a:latin typeface="Consolas"/>
            </a:endParaRPr>
          </a:p>
          <a:p>
            <a:pPr algn="l"/>
            <a:r>
              <a:rPr sz="900" b="0" dirty="0">
                <a:solidFill>
                  <a:srgbClr val="FFFFFF"/>
                </a:solidFill>
                <a:latin typeface="Consolas"/>
              </a:rPr>
              <a:t>public class CreateAccountHandler(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IAccountRepository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 repo)</a:t>
            </a:r>
          </a:p>
          <a:p>
            <a:pPr algn="l"/>
            <a:r>
              <a:rPr sz="900" b="0" dirty="0">
                <a:solidFill>
                  <a:srgbClr val="FFFFFF"/>
                </a:solidFill>
                <a:latin typeface="Consolas"/>
              </a:rPr>
              <a:t>    : 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ICommandHandler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&lt;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CreateAccountCommand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, 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Guid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&gt;</a:t>
            </a:r>
          </a:p>
          <a:p>
            <a:pPr algn="l"/>
            <a:r>
              <a:rPr sz="900" b="0" dirty="0">
                <a:solidFill>
                  <a:srgbClr val="FFFFFF"/>
                </a:solidFill>
                <a:latin typeface="Consolas"/>
              </a:rPr>
              <a:t>{</a:t>
            </a:r>
          </a:p>
          <a:p>
            <a:pPr algn="l"/>
            <a:r>
              <a:rPr sz="900" b="0" dirty="0">
                <a:solidFill>
                  <a:srgbClr val="FFFFFF"/>
                </a:solidFill>
                <a:latin typeface="Consolas"/>
              </a:rPr>
              <a:t>    public async Task&lt;Result&lt;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Guid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&gt;&gt; Handle(</a:t>
            </a:r>
          </a:p>
          <a:p>
            <a:pPr algn="l"/>
            <a:r>
              <a:rPr sz="900" b="0" dirty="0">
                <a:solidFill>
                  <a:srgbClr val="FFFFFF"/>
                </a:solidFill>
                <a:latin typeface="Consolas"/>
              </a:rPr>
              <a:t>        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CreateAccountCommand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cmd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, 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CancellationToken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ct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)</a:t>
            </a:r>
          </a:p>
          <a:p>
            <a:pPr algn="l"/>
            <a:r>
              <a:rPr sz="900" b="0" dirty="0">
                <a:solidFill>
                  <a:srgbClr val="FFFFFF"/>
                </a:solidFill>
                <a:latin typeface="Consolas"/>
              </a:rPr>
              <a:t>    {</a:t>
            </a:r>
          </a:p>
          <a:p>
            <a:pPr algn="l"/>
            <a:r>
              <a:rPr sz="900" b="0" dirty="0">
                <a:solidFill>
                  <a:srgbClr val="FFFFFF"/>
                </a:solidFill>
                <a:latin typeface="Consolas"/>
              </a:rPr>
              <a:t>        if (await 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repo.ExistsByNumberAsync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(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cmd.AccountNumber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, 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ct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))</a:t>
            </a:r>
          </a:p>
          <a:p>
            <a:pPr algn="l"/>
            <a:r>
              <a:rPr sz="900" b="0" dirty="0">
                <a:solidFill>
                  <a:srgbClr val="FFFFFF"/>
                </a:solidFill>
                <a:latin typeface="Consolas"/>
              </a:rPr>
              <a:t>            return 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AccountErrors.DuplicateNumber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;</a:t>
            </a:r>
          </a:p>
          <a:p>
            <a:pPr algn="l"/>
            <a:endParaRPr sz="900" b="0" dirty="0">
              <a:solidFill>
                <a:srgbClr val="FFFFFF"/>
              </a:solidFill>
              <a:latin typeface="Consolas"/>
            </a:endParaRPr>
          </a:p>
          <a:p>
            <a:pPr algn="l"/>
            <a:r>
              <a:rPr sz="900" b="0" dirty="0">
                <a:solidFill>
                  <a:srgbClr val="FFFFFF"/>
                </a:solidFill>
                <a:latin typeface="Consolas"/>
              </a:rPr>
              <a:t>        var account = 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cmd.Adapt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&lt;Account&gt;();</a:t>
            </a:r>
          </a:p>
          <a:p>
            <a:pPr algn="l"/>
            <a:r>
              <a:rPr sz="900" b="0" dirty="0">
                <a:solidFill>
                  <a:srgbClr val="FFFFFF"/>
                </a:solidFill>
                <a:latin typeface="Consolas"/>
              </a:rPr>
              <a:t>        await 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repo.AddAsync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(account, 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ct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);</a:t>
            </a:r>
          </a:p>
          <a:p>
            <a:pPr algn="l"/>
            <a:r>
              <a:rPr sz="900" b="0" dirty="0">
                <a:solidFill>
                  <a:srgbClr val="FFFFFF"/>
                </a:solidFill>
                <a:latin typeface="Consolas"/>
              </a:rPr>
              <a:t>        return 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account.Id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;</a:t>
            </a:r>
          </a:p>
          <a:p>
            <a:pPr algn="l"/>
            <a:r>
              <a:rPr sz="900" b="0" dirty="0">
                <a:solidFill>
                  <a:srgbClr val="FFFFFF"/>
                </a:solidFill>
                <a:latin typeface="Consolas"/>
              </a:rPr>
              <a:t>    }</a:t>
            </a:r>
          </a:p>
          <a:p>
            <a:pPr algn="l"/>
            <a:r>
              <a:rPr sz="900" b="0" dirty="0">
                <a:solidFill>
                  <a:srgbClr val="FFFFFF"/>
                </a:solidFill>
                <a:latin typeface="Consolas"/>
              </a:rPr>
              <a:t>}</a:t>
            </a:r>
          </a:p>
          <a:p>
            <a:pPr algn="l"/>
            <a:endParaRPr sz="900" b="0" dirty="0">
              <a:solidFill>
                <a:srgbClr val="FFFFFF"/>
              </a:solidFill>
              <a:latin typeface="Consolas"/>
            </a:endParaRPr>
          </a:p>
          <a:p>
            <a:pPr algn="l"/>
            <a:r>
              <a:rPr lang="en-US" sz="900" b="0" dirty="0">
                <a:solidFill>
                  <a:srgbClr val="FFFFFF"/>
                </a:solidFill>
                <a:latin typeface="Consolas"/>
              </a:rPr>
              <a:t>// Controller — </a:t>
            </a:r>
            <a:r>
              <a:rPr lang="en-US" sz="900" b="0" dirty="0" err="1">
                <a:solidFill>
                  <a:srgbClr val="FFFFFF"/>
                </a:solidFill>
                <a:latin typeface="Consolas"/>
              </a:rPr>
              <a:t>tek</a:t>
            </a:r>
            <a:r>
              <a:rPr lang="en-US" sz="900" b="0" dirty="0">
                <a:solidFill>
                  <a:srgbClr val="FFFFFF"/>
                </a:solidFill>
                <a:latin typeface="Consolas"/>
              </a:rPr>
              <a:t> </a:t>
            </a:r>
            <a:r>
              <a:rPr lang="en-US" sz="900" b="0" dirty="0" err="1">
                <a:solidFill>
                  <a:srgbClr val="FFFFFF"/>
                </a:solidFill>
                <a:latin typeface="Consolas"/>
              </a:rPr>
              <a:t>satır</a:t>
            </a:r>
            <a:endParaRPr lang="en-US" sz="900" b="0" dirty="0">
              <a:solidFill>
                <a:srgbClr val="FFFFFF"/>
              </a:solidFill>
              <a:latin typeface="Consolas"/>
            </a:endParaRPr>
          </a:p>
          <a:p>
            <a:pPr algn="l"/>
            <a:r>
              <a:rPr sz="900" b="0" dirty="0">
                <a:solidFill>
                  <a:srgbClr val="FFFFFF"/>
                </a:solidFill>
                <a:latin typeface="Consolas"/>
              </a:rPr>
              <a:t>[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PrivilegeAuthorize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(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CrmPrivilegeCodes.Account.Create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)]</a:t>
            </a:r>
          </a:p>
          <a:p>
            <a:pPr algn="l"/>
            <a:r>
              <a:rPr sz="900" b="0" dirty="0">
                <a:solidFill>
                  <a:srgbClr val="FFFFFF"/>
                </a:solidFill>
                <a:latin typeface="Consolas"/>
              </a:rPr>
              <a:t>public async Task&lt;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IActionResult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&gt; 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CreateAsync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(</a:t>
            </a:r>
          </a:p>
          <a:p>
            <a:pPr algn="l"/>
            <a:r>
              <a:rPr sz="900" b="0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CreateAccountCommand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 req, 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CancellationToken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ct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)</a:t>
            </a:r>
          </a:p>
          <a:p>
            <a:pPr algn="l"/>
            <a:r>
              <a:rPr sz="900" b="0" dirty="0">
                <a:solidFill>
                  <a:srgbClr val="FFFFFF"/>
                </a:solidFill>
                <a:latin typeface="Consolas"/>
              </a:rPr>
              <a:t>    =&gt; (await _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sender.Send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(req, 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ct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)).</a:t>
            </a:r>
            <a:r>
              <a:rPr sz="900" b="0" dirty="0" err="1">
                <a:solidFill>
                  <a:srgbClr val="FFFFFF"/>
                </a:solidFill>
                <a:latin typeface="Consolas"/>
              </a:rPr>
              <a:t>ToActionResult</a:t>
            </a:r>
            <a:r>
              <a:rPr sz="900" b="0" dirty="0">
                <a:solidFill>
                  <a:srgbClr val="FFFFFF"/>
                </a:solidFill>
                <a:latin typeface="Consolas"/>
              </a:rPr>
              <a:t>();</a:t>
            </a:r>
          </a:p>
        </p:txBody>
      </p:sp>
      <p:sp>
        <p:nvSpPr>
          <p:cNvPr id="8" name="Panel"/>
          <p:cNvSpPr/>
          <p:nvPr/>
        </p:nvSpPr>
        <p:spPr>
          <a:xfrm>
            <a:off x="8503920" y="1188720"/>
            <a:ext cx="3200400" cy="502920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069E4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anelTitle"/>
          <p:cNvSpPr txBox="1"/>
          <p:nvPr/>
        </p:nvSpPr>
        <p:spPr>
          <a:xfrm>
            <a:off x="8595360" y="13716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069E49"/>
                </a:solidFill>
                <a:latin typeface="Calibri"/>
              </a:rPr>
              <a:t>İÇERİDE OLAN</a:t>
            </a:r>
          </a:p>
        </p:txBody>
      </p:sp>
      <p:sp>
        <p:nvSpPr>
          <p:cNvPr id="10" name="Item"/>
          <p:cNvSpPr txBox="1"/>
          <p:nvPr/>
        </p:nvSpPr>
        <p:spPr>
          <a:xfrm>
            <a:off x="8686800" y="19202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✓  Input validation</a:t>
            </a:r>
          </a:p>
        </p:txBody>
      </p:sp>
      <p:sp>
        <p:nvSpPr>
          <p:cNvPr id="11" name="Item"/>
          <p:cNvSpPr txBox="1"/>
          <p:nvPr/>
        </p:nvSpPr>
        <p:spPr>
          <a:xfrm>
            <a:off x="8686800" y="231343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✓  Privilege kontrolü</a:t>
            </a:r>
          </a:p>
        </p:txBody>
      </p:sp>
      <p:sp>
        <p:nvSpPr>
          <p:cNvPr id="12" name="Item"/>
          <p:cNvSpPr txBox="1"/>
          <p:nvPr/>
        </p:nvSpPr>
        <p:spPr>
          <a:xfrm>
            <a:off x="8686800" y="2706624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✓  DB transaction</a:t>
            </a:r>
          </a:p>
        </p:txBody>
      </p:sp>
      <p:sp>
        <p:nvSpPr>
          <p:cNvPr id="13" name="Item"/>
          <p:cNvSpPr txBox="1"/>
          <p:nvPr/>
        </p:nvSpPr>
        <p:spPr>
          <a:xfrm>
            <a:off x="8686800" y="3099816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✓  Mapster mapping</a:t>
            </a:r>
          </a:p>
        </p:txBody>
      </p:sp>
      <p:sp>
        <p:nvSpPr>
          <p:cNvPr id="14" name="Item"/>
          <p:cNvSpPr txBox="1"/>
          <p:nvPr/>
        </p:nvSpPr>
        <p:spPr>
          <a:xfrm>
            <a:off x="8686800" y="349300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✓  Result → HTTP status</a:t>
            </a:r>
          </a:p>
        </p:txBody>
      </p:sp>
      <p:sp>
        <p:nvSpPr>
          <p:cNvPr id="15" name="Item"/>
          <p:cNvSpPr txBox="1"/>
          <p:nvPr/>
        </p:nvSpPr>
        <p:spPr>
          <a:xfrm>
            <a:off x="8686800" y="38862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✓  ProblemDetails error</a:t>
            </a:r>
          </a:p>
        </p:txBody>
      </p:sp>
      <p:sp>
        <p:nvSpPr>
          <p:cNvPr id="16" name="Item"/>
          <p:cNvSpPr txBox="1"/>
          <p:nvPr/>
        </p:nvSpPr>
        <p:spPr>
          <a:xfrm>
            <a:off x="8686800" y="427939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✓  Serilog logging</a:t>
            </a:r>
          </a:p>
        </p:txBody>
      </p:sp>
      <p:sp>
        <p:nvSpPr>
          <p:cNvPr id="17" name="Item"/>
          <p:cNvSpPr txBox="1"/>
          <p:nvPr/>
        </p:nvSpPr>
        <p:spPr>
          <a:xfrm>
            <a:off x="8686800" y="4672584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✓  Audit (Created/Modified)</a:t>
            </a:r>
          </a:p>
        </p:txBody>
      </p:sp>
      <p:sp>
        <p:nvSpPr>
          <p:cNvPr id="18" name="Item"/>
          <p:cNvSpPr txBox="1"/>
          <p:nvPr/>
        </p:nvSpPr>
        <p:spPr>
          <a:xfrm>
            <a:off x="8686800" y="5065776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✓  Domain event dispatch</a:t>
            </a:r>
          </a:p>
        </p:txBody>
      </p:sp>
      <p:sp>
        <p:nvSpPr>
          <p:cNvPr id="19" name="FooterText"/>
          <p:cNvSpPr txBox="1"/>
          <p:nvPr/>
        </p:nvSpPr>
        <p:spPr>
          <a:xfrm>
            <a:off x="457200" y="6537960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 err="1">
                <a:solidFill>
                  <a:srgbClr val="6B7280"/>
                </a:solidFill>
                <a:latin typeface="Calibri"/>
              </a:rPr>
              <a:t>Codeliman</a:t>
            </a:r>
            <a:r>
              <a:rPr sz="1000" b="0" dirty="0">
                <a:solidFill>
                  <a:srgbClr val="6B7280"/>
                </a:solidFill>
                <a:latin typeface="Calibri"/>
              </a:rPr>
              <a:t>  •  </a:t>
            </a:r>
            <a:r>
              <a:rPr lang="en-US" sz="1000" b="0" dirty="0" err="1">
                <a:solidFill>
                  <a:srgbClr val="6B7280"/>
                </a:solidFill>
                <a:latin typeface="Calibri"/>
              </a:rPr>
              <a:t>PlatformSuite</a:t>
            </a:r>
            <a:r>
              <a:rPr lang="en-US" sz="10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b="0" dirty="0">
                <a:solidFill>
                  <a:srgbClr val="6B7280"/>
                </a:solidFill>
                <a:latin typeface="Calibri"/>
              </a:rPr>
              <a:t>•  Haziran 2026</a:t>
            </a:r>
          </a:p>
        </p:txBody>
      </p:sp>
      <p:sp>
        <p:nvSpPr>
          <p:cNvPr id="20" name="PageNum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69E49"/>
                </a:solidFill>
                <a:latin typeface="Calibri"/>
              </a:rPr>
              <a:t>BÖLÜM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1828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0" b="1">
                <a:solidFill>
                  <a:srgbClr val="FEF3C7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108960"/>
            <a:ext cx="8229600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0" b="1" dirty="0" err="1">
                <a:solidFill>
                  <a:srgbClr val="FFFFFF"/>
                </a:solidFill>
                <a:latin typeface="Calibri"/>
              </a:rPr>
              <a:t>Uçtan</a:t>
            </a:r>
            <a:r>
              <a:rPr sz="5200" b="1" dirty="0">
                <a:solidFill>
                  <a:srgbClr val="FFFFFF"/>
                </a:solidFill>
                <a:latin typeface="Calibri"/>
              </a:rPr>
              <a:t> Uca </a:t>
            </a:r>
            <a:r>
              <a:rPr lang="tr-TR" sz="5200" b="1" dirty="0">
                <a:solidFill>
                  <a:srgbClr val="FFFFFF"/>
                </a:solidFill>
                <a:latin typeface="Calibri"/>
              </a:rPr>
              <a:t>Mimari</a:t>
            </a:r>
            <a:endParaRPr sz="5200" b="1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21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Calibri"/>
              </a:rPr>
              <a:t>Backend </a:t>
            </a:r>
            <a:r>
              <a:rPr lang="tr-TR" sz="2600" b="1" dirty="0">
                <a:solidFill>
                  <a:srgbClr val="FFFFFF"/>
                </a:solidFill>
                <a:latin typeface="Calibri"/>
              </a:rPr>
              <a:t>Mimari</a:t>
            </a:r>
            <a:endParaRPr sz="26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EFF6FF"/>
                </a:solidFill>
                <a:latin typeface="Calibri"/>
              </a:rPr>
              <a:t>Clean </a:t>
            </a:r>
            <a:r>
              <a:rPr sz="1400" b="0">
                <a:solidFill>
                  <a:srgbClr val="EFF6FF"/>
                </a:solidFill>
                <a:latin typeface="Calibri"/>
              </a:rPr>
              <a:t>Architecture + CQRS + </a:t>
            </a:r>
            <a:r>
              <a:rPr sz="1400" b="0" dirty="0" err="1">
                <a:solidFill>
                  <a:srgbClr val="EFF6FF"/>
                </a:solidFill>
                <a:latin typeface="Calibri"/>
              </a:rPr>
              <a:t>MediatR</a:t>
            </a:r>
            <a:r>
              <a:rPr sz="1400" b="0" dirty="0">
                <a:solidFill>
                  <a:srgbClr val="EFF6FF"/>
                </a:solidFill>
                <a:latin typeface="Calibri"/>
              </a:rPr>
              <a:t> </a:t>
            </a:r>
            <a:r>
              <a:rPr sz="1400" b="0">
                <a:solidFill>
                  <a:srgbClr val="EFF6FF"/>
                </a:solidFill>
                <a:latin typeface="Calibri"/>
              </a:rPr>
              <a:t>Pipeline + </a:t>
            </a:r>
            <a:r>
              <a:rPr sz="1400" b="0" dirty="0">
                <a:solidFill>
                  <a:srgbClr val="EFF6FF"/>
                </a:solidFill>
                <a:latin typeface="Calibri"/>
              </a:rPr>
              <a:t>Logging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040" y="960120"/>
            <a:ext cx="2697480" cy="77724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005840"/>
            <a:ext cx="548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051560"/>
            <a:ext cx="19659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HTTP Request</a:t>
            </a:r>
          </a:p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(Client)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82112" y="960120"/>
            <a:ext cx="2697480" cy="777240"/>
          </a:xfrm>
          <a:prstGeom prst="roundRect">
            <a:avLst/>
          </a:prstGeom>
          <a:solidFill>
            <a:srgbClr val="021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73552" y="1005840"/>
            <a:ext cx="548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22192" y="1051560"/>
            <a:ext cx="19659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JWT Validation</a:t>
            </a:r>
          </a:p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Middleware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44184" y="960120"/>
            <a:ext cx="2697480" cy="777240"/>
          </a:xfrm>
          <a:prstGeom prst="roundRect">
            <a:avLst/>
          </a:prstGeom>
          <a:solidFill>
            <a:srgbClr val="021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35624" y="1005840"/>
            <a:ext cx="548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4264" y="1051560"/>
            <a:ext cx="19659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Logging Enricher</a:t>
            </a:r>
          </a:p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(Correlation ID)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960120"/>
            <a:ext cx="2697480" cy="777240"/>
          </a:xfrm>
          <a:prstGeom prst="roundRect">
            <a:avLst/>
          </a:prstGeom>
          <a:solidFill>
            <a:srgbClr val="021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97696" y="1005840"/>
            <a:ext cx="548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46336" y="1051560"/>
            <a:ext cx="19659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Controller</a:t>
            </a:r>
          </a:p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(1 satır → ISender)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17520" y="0"/>
            <a:ext cx="164592" cy="0"/>
          </a:xfrm>
          <a:prstGeom prst="bentConnector3">
            <a:avLst/>
          </a:prstGeom>
          <a:ln w="25400">
            <a:solidFill>
              <a:srgbClr val="6B72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879592" y="0"/>
            <a:ext cx="164592" cy="0"/>
          </a:xfrm>
          <a:prstGeom prst="bentConnector3">
            <a:avLst/>
          </a:prstGeom>
          <a:ln w="25400">
            <a:solidFill>
              <a:srgbClr val="6B72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741664" y="0"/>
            <a:ext cx="164592" cy="0"/>
          </a:xfrm>
          <a:prstGeom prst="bentConnector3">
            <a:avLst/>
          </a:prstGeom>
          <a:ln w="25400">
            <a:solidFill>
              <a:srgbClr val="6B72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1737360"/>
            <a:ext cx="0" cy="411480"/>
          </a:xfrm>
          <a:prstGeom prst="bentConnector3">
            <a:avLst/>
          </a:prstGeom>
          <a:ln w="31750">
            <a:solidFill>
              <a:srgbClr val="121147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20040" y="2148840"/>
            <a:ext cx="11567160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121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2221992"/>
            <a:ext cx="11338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21147"/>
                </a:solidFill>
                <a:latin typeface="Calibri"/>
              </a:rPr>
              <a:t>📦  MediatR Pipeline  (Application Layer — cross-cutting concerns)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" y="2606040"/>
            <a:ext cx="21488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1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2064" y="2606040"/>
            <a:ext cx="411480" cy="822960"/>
          </a:xfrm>
          <a:prstGeom prst="roundRect">
            <a:avLst/>
          </a:prstGeom>
          <a:solidFill>
            <a:srgbClr val="021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" y="2697480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21343"/>
                </a:solidFill>
                <a:latin typeface="Calibri"/>
              </a:rPr>
              <a:t>Logging</a:t>
            </a:r>
          </a:p>
          <a:p>
            <a:pPr algn="l"/>
            <a:r>
              <a:rPr sz="1100" b="1">
                <a:solidFill>
                  <a:srgbClr val="021343"/>
                </a:solidFill>
                <a:latin typeface="Calibri"/>
              </a:rPr>
              <a:t>Behavior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0" y="0"/>
            <a:ext cx="0" cy="0"/>
          </a:xfrm>
          <a:prstGeom prst="bentConnector3">
            <a:avLst/>
          </a:prstGeom>
          <a:ln w="19050">
            <a:solidFill>
              <a:srgbClr val="6B72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770632" y="2606040"/>
            <a:ext cx="21488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4A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770632" y="2606040"/>
            <a:ext cx="411480" cy="822960"/>
          </a:xfrm>
          <a:prstGeom prst="roundRect">
            <a:avLst/>
          </a:prstGeom>
          <a:solidFill>
            <a:srgbClr val="54A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73552" y="2697480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54ADD3"/>
                </a:solidFill>
                <a:latin typeface="Calibri"/>
              </a:rPr>
              <a:t>Validation</a:t>
            </a:r>
          </a:p>
          <a:p>
            <a:pPr algn="l"/>
            <a:r>
              <a:rPr sz="1100" b="1">
                <a:solidFill>
                  <a:srgbClr val="54ADD3"/>
                </a:solidFill>
                <a:latin typeface="Calibri"/>
              </a:rPr>
              <a:t>(FluentValidation)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0" y="0"/>
            <a:ext cx="0" cy="0"/>
          </a:xfrm>
          <a:prstGeom prst="bentConnector3">
            <a:avLst/>
          </a:prstGeom>
          <a:ln w="19050">
            <a:solidFill>
              <a:srgbClr val="6B72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029200" y="2606040"/>
            <a:ext cx="21488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029200" y="2606040"/>
            <a:ext cx="411480" cy="822960"/>
          </a:xfrm>
          <a:prstGeom prst="roundRect">
            <a:avLst/>
          </a:prstGeom>
          <a:solidFill>
            <a:srgbClr val="002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2120" y="2697480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0282A"/>
                </a:solidFill>
                <a:latin typeface="Calibri"/>
              </a:rPr>
              <a:t>Privilege</a:t>
            </a:r>
          </a:p>
          <a:p>
            <a:pPr algn="l"/>
            <a:r>
              <a:rPr sz="1100" b="1">
                <a:solidFill>
                  <a:srgbClr val="00282A"/>
                </a:solidFill>
                <a:latin typeface="Calibri"/>
              </a:rPr>
              <a:t>Authorization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0" y="0"/>
            <a:ext cx="0" cy="0"/>
          </a:xfrm>
          <a:prstGeom prst="bentConnector3">
            <a:avLst/>
          </a:prstGeom>
          <a:ln w="19050">
            <a:solidFill>
              <a:srgbClr val="6B72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287768" y="2606040"/>
            <a:ext cx="21488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9E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287768" y="2606040"/>
            <a:ext cx="411480" cy="822960"/>
          </a:xfrm>
          <a:prstGeom prst="roundRect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90688" y="2697480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69E49"/>
                </a:solidFill>
                <a:latin typeface="Calibri"/>
              </a:rPr>
              <a:t>Transaction</a:t>
            </a:r>
          </a:p>
          <a:p>
            <a:pPr algn="l"/>
            <a:r>
              <a:rPr sz="1100" b="1">
                <a:solidFill>
                  <a:srgbClr val="069E49"/>
                </a:solidFill>
                <a:latin typeface="Calibri"/>
              </a:rPr>
              <a:t>(Unit of Work)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0" y="0"/>
            <a:ext cx="0" cy="0"/>
          </a:xfrm>
          <a:prstGeom prst="bentConnector3">
            <a:avLst/>
          </a:prstGeom>
          <a:ln w="19050">
            <a:solidFill>
              <a:srgbClr val="6B72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546336" y="2606040"/>
            <a:ext cx="21488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21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546336" y="2606040"/>
            <a:ext cx="411480" cy="822960"/>
          </a:xfrm>
          <a:prstGeom prst="roundRect">
            <a:avLst/>
          </a:prstGeom>
          <a:solidFill>
            <a:srgbClr val="121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49256" y="2697480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21147"/>
                </a:solidFill>
                <a:latin typeface="Calibri"/>
              </a:rPr>
              <a:t>Handler</a:t>
            </a:r>
          </a:p>
          <a:p>
            <a:pPr algn="l"/>
            <a:r>
              <a:rPr sz="1100" b="1">
                <a:solidFill>
                  <a:srgbClr val="121147"/>
                </a:solidFill>
                <a:latin typeface="Calibri"/>
              </a:rPr>
              <a:t>(Command / Query)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0" y="3520440"/>
            <a:ext cx="0" cy="274320"/>
          </a:xfrm>
          <a:prstGeom prst="bentConnector3">
            <a:avLst/>
          </a:prstGeom>
          <a:ln w="31750">
            <a:solidFill>
              <a:srgbClr val="069E49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320040" y="3794760"/>
            <a:ext cx="2743200" cy="777240"/>
          </a:xfrm>
          <a:prstGeom prst="roundRect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11480" y="3840480"/>
            <a:ext cx="548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🏛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" y="3840480"/>
            <a:ext cx="20116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dirty="0">
                <a:solidFill>
                  <a:srgbClr val="FFFFFF"/>
                </a:solidFill>
                <a:latin typeface="Calibri"/>
              </a:rPr>
              <a:t>Domain</a:t>
            </a:r>
          </a:p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Entity + </a:t>
            </a:r>
            <a:r>
              <a:rPr sz="1100" b="1" dirty="0">
                <a:solidFill>
                  <a:srgbClr val="FFFFFF"/>
                </a:solidFill>
                <a:latin typeface="Calibri"/>
              </a:rPr>
              <a:t>Rules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27832" y="3794760"/>
            <a:ext cx="2743200" cy="777240"/>
          </a:xfrm>
          <a:prstGeom prst="roundRect">
            <a:avLst/>
          </a:prstGeom>
          <a:solidFill>
            <a:srgbClr val="002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319272" y="3840480"/>
            <a:ext cx="548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67912" y="3840480"/>
            <a:ext cx="20116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Repository</a:t>
            </a:r>
          </a:p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(write path)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35624" y="3794760"/>
            <a:ext cx="2743200" cy="777240"/>
          </a:xfrm>
          <a:prstGeom prst="roundRect">
            <a:avLst/>
          </a:prstGeom>
          <a:solidFill>
            <a:srgbClr val="002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27064" y="3840480"/>
            <a:ext cx="548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75704" y="3840480"/>
            <a:ext cx="20116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EF Core</a:t>
            </a:r>
          </a:p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Projection (read)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043416" y="3794760"/>
            <a:ext cx="2743200" cy="777240"/>
          </a:xfrm>
          <a:prstGeom prst="roundRect">
            <a:avLst/>
          </a:prstGeom>
          <a:solidFill>
            <a:srgbClr val="54A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134856" y="3840480"/>
            <a:ext cx="548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83496" y="3840480"/>
            <a:ext cx="20116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063240" y="0"/>
            <a:ext cx="164592" cy="0"/>
          </a:xfrm>
          <a:prstGeom prst="bentConnector3">
            <a:avLst/>
          </a:prstGeom>
          <a:ln w="25400">
            <a:solidFill>
              <a:srgbClr val="6B72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971032" y="0"/>
            <a:ext cx="164592" cy="0"/>
          </a:xfrm>
          <a:prstGeom prst="bentConnector3">
            <a:avLst/>
          </a:prstGeom>
          <a:ln w="25400">
            <a:solidFill>
              <a:srgbClr val="6B72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878824" y="0"/>
            <a:ext cx="164592" cy="0"/>
          </a:xfrm>
          <a:prstGeom prst="bentConnector3">
            <a:avLst/>
          </a:prstGeom>
          <a:ln w="25400">
            <a:solidFill>
              <a:srgbClr val="6B72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20040" y="4709160"/>
            <a:ext cx="11521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5E6D7E"/>
                </a:solidFill>
                <a:latin typeface="Calibri"/>
              </a:rPr>
              <a:t>↩  RETURN PATH (Result&lt;T&gt; ile exception'sız)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5029200"/>
            <a:ext cx="219456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94360" y="512064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Calibri"/>
              </a:rPr>
              <a:t>Result&lt;T&gt;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4360" y="5413248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Handler dönüşü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798064" y="5029200"/>
            <a:ext cx="219456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E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935224" y="512064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5E6D7E"/>
                </a:solidFill>
                <a:latin typeface="Calibri"/>
              </a:rPr>
              <a:t>Failure →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935224" y="5413248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ProblemDetails (RFC 7807)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138928" y="5029200"/>
            <a:ext cx="219456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9E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276088" y="512064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069E49"/>
                </a:solidFill>
                <a:latin typeface="Calibri"/>
              </a:rPr>
              <a:t>Success →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76088" y="5413248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DTO (Mapster projection)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479792" y="5029200"/>
            <a:ext cx="219456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1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616952" y="512064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021343"/>
                </a:solidFill>
                <a:latin typeface="Calibri"/>
              </a:rPr>
              <a:t>Controller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16952" y="5413248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.ToActionResult()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820656" y="5029200"/>
            <a:ext cx="219456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957816" y="512064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6B7280"/>
                </a:solidFill>
                <a:latin typeface="Calibri"/>
              </a:rPr>
              <a:t>🌐 HTTP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57816" y="5413248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Response → Client</a:t>
            </a:r>
          </a:p>
        </p:txBody>
      </p:sp>
      <p:cxnSp>
        <p:nvCxnSpPr>
          <p:cNvPr id="75" name="Connector 74"/>
          <p:cNvCxnSpPr/>
          <p:nvPr/>
        </p:nvCxnSpPr>
        <p:spPr>
          <a:xfrm flipH="1">
            <a:off x="2651760" y="0"/>
            <a:ext cx="146304" cy="0"/>
          </a:xfrm>
          <a:prstGeom prst="bentConnector3">
            <a:avLst/>
          </a:prstGeom>
          <a:ln w="19050">
            <a:solidFill>
              <a:srgbClr val="5E6D7E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4992624" y="0"/>
            <a:ext cx="146304" cy="0"/>
          </a:xfrm>
          <a:prstGeom prst="bentConnector3">
            <a:avLst/>
          </a:prstGeom>
          <a:ln w="19050">
            <a:solidFill>
              <a:srgbClr val="5E6D7E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7333488" y="0"/>
            <a:ext cx="146304" cy="0"/>
          </a:xfrm>
          <a:prstGeom prst="bentConnector3">
            <a:avLst/>
          </a:prstGeom>
          <a:ln w="19050">
            <a:solidFill>
              <a:srgbClr val="5E6D7E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>
            <a:off x="9674352" y="0"/>
            <a:ext cx="146304" cy="0"/>
          </a:xfrm>
          <a:prstGeom prst="bentConnector3">
            <a:avLst/>
          </a:prstGeom>
          <a:ln w="19050">
            <a:solidFill>
              <a:srgbClr val="5E6D7E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320040" y="59893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Calibri"/>
              </a:rPr>
              <a:t>Clean Architecture: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240280" y="6035040"/>
            <a:ext cx="201168" cy="201168"/>
          </a:xfrm>
          <a:prstGeom prst="rect">
            <a:avLst/>
          </a:prstGeom>
          <a:solidFill>
            <a:srgbClr val="021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487168" y="59893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Api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023360" y="6035040"/>
            <a:ext cx="201168" cy="201168"/>
          </a:xfrm>
          <a:prstGeom prst="rect">
            <a:avLst/>
          </a:prstGeom>
          <a:solidFill>
            <a:srgbClr val="121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270248" y="59893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Application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806440" y="6035040"/>
            <a:ext cx="201168" cy="201168"/>
          </a:xfrm>
          <a:prstGeom prst="rect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053328" y="59893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Domain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589520" y="6035040"/>
            <a:ext cx="201168" cy="201168"/>
          </a:xfrm>
          <a:prstGeom prst="rect">
            <a:avLst/>
          </a:prstGeom>
          <a:solidFill>
            <a:srgbClr val="002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836408" y="59893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Infrastructure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372600" y="6035040"/>
            <a:ext cx="201168" cy="201168"/>
          </a:xfrm>
          <a:prstGeom prst="rect">
            <a:avLst/>
          </a:prstGeom>
          <a:solidFill>
            <a:srgbClr val="54A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619488" y="59893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Database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7200" y="6537960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 err="1">
                <a:solidFill>
                  <a:srgbClr val="6B7280"/>
                </a:solidFill>
                <a:latin typeface="Calibri"/>
              </a:rPr>
              <a:t>Codeliman</a:t>
            </a:r>
            <a:r>
              <a:rPr sz="1000" b="0" dirty="0">
                <a:solidFill>
                  <a:srgbClr val="6B7280"/>
                </a:solidFill>
                <a:latin typeface="Calibri"/>
              </a:rPr>
              <a:t>  •  </a:t>
            </a:r>
            <a:r>
              <a:rPr lang="en-US" sz="1000" b="0" dirty="0" err="1">
                <a:solidFill>
                  <a:srgbClr val="6B7280"/>
                </a:solidFill>
                <a:latin typeface="Calibri"/>
              </a:rPr>
              <a:t>PlatformSuite</a:t>
            </a:r>
            <a:r>
              <a:rPr lang="en-US" sz="10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b="0" dirty="0">
                <a:solidFill>
                  <a:srgbClr val="6B7280"/>
                </a:solidFill>
                <a:latin typeface="Calibri"/>
              </a:rPr>
              <a:t>•  Haziran 2026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21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Calibri"/>
              </a:rPr>
              <a:t>Frontend </a:t>
            </a:r>
            <a:r>
              <a:rPr lang="tr-TR" sz="2600" b="1" dirty="0">
                <a:solidFill>
                  <a:srgbClr val="FFFFFF"/>
                </a:solidFill>
                <a:latin typeface="Calibri"/>
              </a:rPr>
              <a:t>Mimari</a:t>
            </a:r>
            <a:endParaRPr sz="26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Calibri"/>
              </a:rPr>
              <a:t>MVI + </a:t>
            </a:r>
            <a:r>
              <a:rPr sz="1400" b="0" dirty="0">
                <a:solidFill>
                  <a:srgbClr val="EFF6FF"/>
                </a:solidFill>
                <a:latin typeface="Calibri"/>
              </a:rPr>
              <a:t>Feature-Sliced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247120" cy="594360"/>
          </a:xfrm>
          <a:prstGeom prst="roundRect">
            <a:avLst/>
          </a:prstGeom>
          <a:solidFill>
            <a:srgbClr val="54A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280160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Giriş noktası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65960"/>
            <a:ext cx="10515600" cy="594360"/>
          </a:xfrm>
          <a:prstGeom prst="roundRect">
            <a:avLst/>
          </a:prstGeom>
          <a:solidFill>
            <a:srgbClr val="121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196596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96596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Sayfalar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2651760"/>
            <a:ext cx="9784080" cy="594360"/>
          </a:xfrm>
          <a:prstGeom prst="roundRect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63040" y="265176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widgets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651760"/>
            <a:ext cx="70408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Çok-sayfalı bileşenler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54480" y="3337560"/>
            <a:ext cx="9052560" cy="594360"/>
          </a:xfrm>
          <a:prstGeom prst="roundRect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28800" y="333756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337560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Kullanıcı niyetleri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0240" y="4023360"/>
            <a:ext cx="8321040" cy="594360"/>
          </a:xfrm>
          <a:prstGeom prst="roundRect">
            <a:avLst/>
          </a:prstGeom>
          <a:solidFill>
            <a:srgbClr val="002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194560" y="402336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entities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023360"/>
            <a:ext cx="55778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İş kavramları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4709160"/>
            <a:ext cx="7589520" cy="594360"/>
          </a:xfrm>
          <a:prstGeom prst="roundRect">
            <a:avLst/>
          </a:prstGeom>
          <a:solidFill>
            <a:srgbClr val="021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560320" y="470916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shared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709160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Generic altyapı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577840"/>
            <a:ext cx="11247120" cy="91440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566928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021343"/>
                </a:solidFill>
                <a:latin typeface="Calibri"/>
              </a:rPr>
              <a:t>Bağımlılık YALNIZCA yukarıdan aşağıya akar  •  Circular dependency mümkün değil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9893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dirty="0">
                <a:solidFill>
                  <a:srgbClr val="1F2937"/>
                </a:solidFill>
                <a:latin typeface="Calibri"/>
              </a:rPr>
              <a:t>Reducer </a:t>
            </a:r>
            <a:r>
              <a:rPr sz="1200" b="0" dirty="0" err="1">
                <a:solidFill>
                  <a:srgbClr val="1F2937"/>
                </a:solidFill>
                <a:latin typeface="Calibri"/>
              </a:rPr>
              <a:t>saf</a:t>
            </a:r>
            <a:r>
              <a:rPr sz="1200" b="0" dirty="0">
                <a:solidFill>
                  <a:srgbClr val="1F2937"/>
                </a:solidFill>
                <a:latin typeface="Calibri"/>
              </a:rPr>
              <a:t> (</a:t>
            </a:r>
            <a:r>
              <a:rPr sz="1200" b="0" dirty="0" err="1">
                <a:solidFill>
                  <a:srgbClr val="1F2937"/>
                </a:solidFill>
                <a:latin typeface="Calibri"/>
              </a:rPr>
              <a:t>yan</a:t>
            </a:r>
            <a:r>
              <a:rPr sz="1200" b="0" dirty="0">
                <a:solidFill>
                  <a:srgbClr val="1F2937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Calibri"/>
              </a:rPr>
              <a:t>etki</a:t>
            </a:r>
            <a:r>
              <a:rPr sz="1200" b="0" dirty="0">
                <a:solidFill>
                  <a:srgbClr val="1F2937"/>
                </a:solidFill>
                <a:latin typeface="Calibri"/>
              </a:rPr>
              <a:t> yok)  •  Mode </a:t>
            </a:r>
            <a:r>
              <a:rPr sz="1200" b="0" dirty="0" err="1">
                <a:solidFill>
                  <a:srgbClr val="1F2937"/>
                </a:solidFill>
                <a:latin typeface="Calibri"/>
              </a:rPr>
              <a:t>kontrolü</a:t>
            </a:r>
            <a:r>
              <a:rPr sz="1200" b="0" dirty="0">
                <a:solidFill>
                  <a:srgbClr val="1F2937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Calibri"/>
              </a:rPr>
              <a:t>yalnız</a:t>
            </a:r>
            <a:r>
              <a:rPr sz="1200" b="0" dirty="0">
                <a:solidFill>
                  <a:srgbClr val="1F2937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Calibri"/>
              </a:rPr>
              <a:t>primitive'lerde</a:t>
            </a:r>
            <a:r>
              <a:rPr sz="1200" b="0" dirty="0">
                <a:solidFill>
                  <a:srgbClr val="1F2937"/>
                </a:solidFill>
                <a:latin typeface="Calibri"/>
              </a:rPr>
              <a:t>  •  Form = </a:t>
            </a:r>
            <a:r>
              <a:rPr sz="1200" b="0">
                <a:solidFill>
                  <a:srgbClr val="1F2937"/>
                </a:solidFill>
                <a:latin typeface="Calibri"/>
              </a:rPr>
              <a:t>react-hook-form + </a:t>
            </a:r>
            <a:r>
              <a:rPr sz="1200" b="0" dirty="0" err="1">
                <a:solidFill>
                  <a:srgbClr val="1F2937"/>
                </a:solidFill>
                <a:latin typeface="Calibri"/>
              </a:rPr>
              <a:t>zod</a:t>
            </a:r>
            <a:endParaRPr sz="1200" b="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7200" y="6537960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 err="1">
                <a:solidFill>
                  <a:srgbClr val="6B7280"/>
                </a:solidFill>
                <a:latin typeface="Calibri"/>
              </a:rPr>
              <a:t>Codeliman</a:t>
            </a:r>
            <a:r>
              <a:rPr sz="1000" b="0" dirty="0">
                <a:solidFill>
                  <a:srgbClr val="6B7280"/>
                </a:solidFill>
                <a:latin typeface="Calibri"/>
              </a:rPr>
              <a:t>  •  </a:t>
            </a:r>
            <a:r>
              <a:rPr lang="en-US" sz="1000" b="0" dirty="0" err="1">
                <a:solidFill>
                  <a:srgbClr val="6B7280"/>
                </a:solidFill>
                <a:latin typeface="Calibri"/>
              </a:rPr>
              <a:t>PlatformSuite</a:t>
            </a:r>
            <a:r>
              <a:rPr lang="en-US" sz="10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b="0" dirty="0">
                <a:solidFill>
                  <a:srgbClr val="6B7280"/>
                </a:solidFill>
                <a:latin typeface="Calibri"/>
              </a:rPr>
              <a:t>•  Haziran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69E49"/>
                </a:solidFill>
                <a:latin typeface="Calibri"/>
              </a:rPr>
              <a:t>BÖLÜM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1828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0" b="1">
                <a:solidFill>
                  <a:srgbClr val="FEF3C7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108960"/>
            <a:ext cx="82296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AI Hazırlığı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21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AI Hazırlığı — Codebase'i AI Nasıl Anlar?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Calibri"/>
              </a:rPr>
              <a:t>Üç rehber doküman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6576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1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3657600" cy="822960"/>
          </a:xfrm>
          <a:prstGeom prst="roundRect">
            <a:avLst/>
          </a:prstGeom>
          <a:solidFill>
            <a:srgbClr val="021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CLAUDE.md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Mimari özet, multi-app yapı,</a:t>
            </a:r>
          </a:p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"yeni entity nereye gider?" tablosu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97680"/>
            <a:ext cx="3108960" cy="82296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021343"/>
                </a:solidFill>
                <a:latin typeface="Calibri"/>
              </a:rPr>
              <a:t>Her sohbette otomatik yüklenir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188720"/>
            <a:ext cx="36576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21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43400" y="1188720"/>
            <a:ext cx="3657600" cy="822960"/>
          </a:xfrm>
          <a:prstGeom prst="roundRect">
            <a:avLst/>
          </a:prstGeom>
          <a:solidFill>
            <a:srgbClr val="121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400" y="12801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6002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Client_Architecture.md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286000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Frontend disiplini, mode pattern,</a:t>
            </a:r>
          </a:p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component konumlandırma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4297680"/>
            <a:ext cx="3108960" cy="82296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021343"/>
                </a:solidFill>
                <a:latin typeface="Calibri"/>
              </a:rPr>
              <a:t>Frontend sorularında okunur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188720"/>
            <a:ext cx="36576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4A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29600" y="1188720"/>
            <a:ext cx="3657600" cy="822960"/>
          </a:xfrm>
          <a:prstGeom prst="roundRect">
            <a:avLst/>
          </a:prstGeom>
          <a:solidFill>
            <a:srgbClr val="54A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12801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6002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Api_Architecture.md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286000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Backend disiplini, CQRS kuralları,</a:t>
            </a:r>
          </a:p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error handling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4297680"/>
            <a:ext cx="3108960" cy="82296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021343"/>
                </a:solidFill>
                <a:latin typeface="Calibri"/>
              </a:rPr>
              <a:t>Backend sorularında okunur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486400"/>
            <a:ext cx="11247120" cy="822960"/>
          </a:xfrm>
          <a:prstGeom prst="roundRect">
            <a:avLst/>
          </a:prstGeom>
          <a:solidFill>
            <a:srgbClr val="021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EF3C7"/>
                </a:solidFill>
                <a:latin typeface="Calibri"/>
              </a:rPr>
              <a:t>AI codebase'i 10 dakikada anlar. Tutarlı kod, tutarlı mimari → bakım 3 kat hızlı.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 err="1">
                <a:solidFill>
                  <a:srgbClr val="6B7280"/>
                </a:solidFill>
                <a:latin typeface="Calibri"/>
              </a:rPr>
              <a:t>Codeliman</a:t>
            </a:r>
            <a:r>
              <a:rPr sz="1000" b="0" dirty="0">
                <a:solidFill>
                  <a:srgbClr val="6B7280"/>
                </a:solidFill>
                <a:latin typeface="Calibri"/>
              </a:rPr>
              <a:t>  •  </a:t>
            </a:r>
            <a:r>
              <a:rPr lang="en-US" sz="1000" b="0" dirty="0" err="1">
                <a:solidFill>
                  <a:srgbClr val="6B7280"/>
                </a:solidFill>
                <a:latin typeface="Calibri"/>
              </a:rPr>
              <a:t>PlatformSuite</a:t>
            </a:r>
            <a:r>
              <a:rPr lang="en-US" sz="10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b="0" dirty="0">
                <a:solidFill>
                  <a:srgbClr val="6B7280"/>
                </a:solidFill>
                <a:latin typeface="Calibri"/>
              </a:rPr>
              <a:t>•  Haziran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21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AI Destekli Geliştirme Senaryosu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Calibri"/>
              </a:rPr>
              <a:t>Yeni entity ekleme akışı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1247120" cy="9144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002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282A"/>
                </a:solidFill>
                <a:latin typeface="Calibri"/>
              </a:rPr>
              <a:t>GELİŞTİRİCİ: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"Servis Talebi entity'sini ekleyelim. Ürün ve müşteri ile ilişkili, durum yönetimi olsun."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9904" y="2194560"/>
            <a:ext cx="0" cy="274320"/>
          </a:xfrm>
          <a:prstGeom prst="bentConnector3">
            <a:avLst/>
          </a:prstGeom>
          <a:ln w="25400">
            <a:solidFill>
              <a:srgbClr val="6B72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256032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54ADD3"/>
                </a:solidFill>
                <a:latin typeface="Calibri"/>
              </a:rPr>
              <a:t>AI (</a:t>
            </a:r>
            <a:r>
              <a:rPr sz="1400" b="1" dirty="0" err="1">
                <a:solidFill>
                  <a:srgbClr val="54ADD3"/>
                </a:solidFill>
                <a:latin typeface="Calibri"/>
              </a:rPr>
              <a:t>CLAUDE.</a:t>
            </a:r>
            <a:r>
              <a:rPr sz="1400" b="1" err="1">
                <a:solidFill>
                  <a:srgbClr val="54ADD3"/>
                </a:solidFill>
                <a:latin typeface="Calibri"/>
              </a:rPr>
              <a:t>md</a:t>
            </a:r>
            <a:r>
              <a:rPr sz="1400" b="1">
                <a:solidFill>
                  <a:srgbClr val="54ADD3"/>
                </a:solidFill>
                <a:latin typeface="Calibri"/>
              </a:rPr>
              <a:t> + </a:t>
            </a:r>
            <a:r>
              <a:rPr sz="1400" b="1" dirty="0">
                <a:solidFill>
                  <a:srgbClr val="54ADD3"/>
                </a:solidFill>
                <a:latin typeface="Calibri"/>
              </a:rPr>
              <a:t>Architecture docs </a:t>
            </a:r>
            <a:r>
              <a:rPr sz="1400" b="1" dirty="0" err="1">
                <a:solidFill>
                  <a:srgbClr val="54ADD3"/>
                </a:solidFill>
                <a:latin typeface="Calibri"/>
              </a:rPr>
              <a:t>okuyarak</a:t>
            </a:r>
            <a:r>
              <a:rPr sz="1400" b="1" dirty="0">
                <a:solidFill>
                  <a:srgbClr val="54ADD3"/>
                </a:solidFill>
                <a:latin typeface="Calibri"/>
              </a:rPr>
              <a:t>):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17520"/>
            <a:ext cx="731520" cy="1097280"/>
          </a:xfrm>
          <a:prstGeom prst="roundRect">
            <a:avLst/>
          </a:prstGeom>
          <a:solidFill>
            <a:srgbClr val="54A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3017520"/>
            <a:ext cx="2834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4A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315468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54ADD3"/>
                </a:solidFill>
                <a:latin typeface="Calibri"/>
              </a:rPr>
              <a:t>Domain 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52044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Apps/X/Domain/Entities/ServiceRequests/ oluşturur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017520"/>
            <a:ext cx="731520" cy="1097280"/>
          </a:xfrm>
          <a:prstGeom prst="roundRect">
            <a:avLst/>
          </a:prstGeom>
          <a:solidFill>
            <a:srgbClr val="54A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60" y="3017520"/>
            <a:ext cx="2834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4A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57800" y="315468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54ADD3"/>
                </a:solidFill>
                <a:latin typeface="Calibri"/>
              </a:rPr>
              <a:t>CQRS Pattern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352044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Command/Query/Handler/Validator dosyaları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017520"/>
            <a:ext cx="731520" cy="1097280"/>
          </a:xfrm>
          <a:prstGeom prst="roundRect">
            <a:avLst/>
          </a:prstGeom>
          <a:solidFill>
            <a:srgbClr val="54A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3017520"/>
            <a:ext cx="2834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4A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0" y="315468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54ADD3"/>
                </a:solidFill>
                <a:latin typeface="Calibri"/>
              </a:rPr>
              <a:t>Mapping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52044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Mapster config güncellenir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297680"/>
            <a:ext cx="731520" cy="1097280"/>
          </a:xfrm>
          <a:prstGeom prst="roundRect">
            <a:avLst/>
          </a:prstGeom>
          <a:solidFill>
            <a:srgbClr val="54A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80160" y="4297680"/>
            <a:ext cx="2834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4A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71600" y="443484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54ADD3"/>
                </a:solidFill>
                <a:latin typeface="Calibri"/>
              </a:rPr>
              <a:t>Frontend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80060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Entity + page + </a:t>
            </a:r>
            <a:r>
              <a:rPr sz="1000" b="0" dirty="0" err="1">
                <a:solidFill>
                  <a:srgbClr val="1F2937"/>
                </a:solidFill>
                <a:latin typeface="Calibri"/>
              </a:rPr>
              <a:t>DetailPageLayout</a:t>
            </a:r>
            <a:endParaRPr sz="1000" b="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343400" y="4297680"/>
            <a:ext cx="731520" cy="1097280"/>
          </a:xfrm>
          <a:prstGeom prst="roundRect">
            <a:avLst/>
          </a:prstGeom>
          <a:solidFill>
            <a:srgbClr val="54A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66360" y="4297680"/>
            <a:ext cx="2834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4A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257800" y="443484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54ADD3"/>
                </a:solidFill>
                <a:latin typeface="Calibri"/>
              </a:rPr>
              <a:t>Privilege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7800" y="480060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Yetkilendirme kodları otomatik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4297680"/>
            <a:ext cx="731520" cy="1097280"/>
          </a:xfrm>
          <a:prstGeom prst="roundRect">
            <a:avLst/>
          </a:prstGeom>
          <a:solidFill>
            <a:srgbClr val="54A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52560" y="4297680"/>
            <a:ext cx="2834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4A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0" y="443484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54ADD3"/>
                </a:solidFill>
                <a:latin typeface="Calibri"/>
              </a:rPr>
              <a:t>Resolver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480060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Activity bağlanabilir hale gelir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852160"/>
            <a:ext cx="11247120" cy="640080"/>
          </a:xfrm>
          <a:prstGeom prst="roundRect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Sonuç: Yeni endpoint ve sayfa  15-30 dakika içinde çalışır.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537960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 err="1">
                <a:solidFill>
                  <a:srgbClr val="6B7280"/>
                </a:solidFill>
                <a:latin typeface="Calibri"/>
              </a:rPr>
              <a:t>Codeliman</a:t>
            </a:r>
            <a:r>
              <a:rPr sz="1000" b="0" dirty="0">
                <a:solidFill>
                  <a:srgbClr val="6B7280"/>
                </a:solidFill>
                <a:latin typeface="Calibri"/>
              </a:rPr>
              <a:t>  •  </a:t>
            </a:r>
            <a:r>
              <a:rPr lang="en-US" sz="1000" b="0" dirty="0" err="1">
                <a:solidFill>
                  <a:srgbClr val="6B7280"/>
                </a:solidFill>
                <a:latin typeface="Calibri"/>
              </a:rPr>
              <a:t>PlatformSuite</a:t>
            </a:r>
            <a:r>
              <a:rPr lang="en-US" sz="10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b="0" dirty="0">
                <a:solidFill>
                  <a:srgbClr val="6B7280"/>
                </a:solidFill>
                <a:latin typeface="Calibri"/>
              </a:rPr>
              <a:t>•  Haziran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21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Calibri"/>
              </a:rPr>
              <a:t>AI </a:t>
            </a:r>
            <a:r>
              <a:rPr sz="2600" b="1" dirty="0" err="1">
                <a:solidFill>
                  <a:srgbClr val="FFFFFF"/>
                </a:solidFill>
                <a:latin typeface="Calibri"/>
              </a:rPr>
              <a:t>Olmadan</a:t>
            </a:r>
            <a:r>
              <a:rPr sz="2600" b="1" dirty="0">
                <a:solidFill>
                  <a:srgbClr val="FFFFFF"/>
                </a:solidFill>
                <a:latin typeface="Calibri"/>
              </a:rPr>
              <a:t> vs. </a:t>
            </a:r>
            <a:r>
              <a:rPr sz="2600" b="1" err="1">
                <a:solidFill>
                  <a:srgbClr val="FFFFFF"/>
                </a:solidFill>
                <a:latin typeface="Calibri"/>
              </a:rPr>
              <a:t>PlatformSuite</a:t>
            </a:r>
            <a:r>
              <a:rPr sz="2600" b="1">
                <a:solidFill>
                  <a:srgbClr val="FFFFFF"/>
                </a:solidFill>
                <a:latin typeface="Calibri"/>
              </a:rPr>
              <a:t> + </a:t>
            </a:r>
            <a:r>
              <a:rPr sz="2600" b="1" dirty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Calibri"/>
              </a:rPr>
              <a:t>Basit CRUD entity için karşılaştırma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029200" cy="457200"/>
          </a:xfrm>
          <a:prstGeom prst="roundRect">
            <a:avLst/>
          </a:prstGeom>
          <a:solidFill>
            <a:srgbClr val="021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ADIM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188720"/>
            <a:ext cx="3017520" cy="457200"/>
          </a:xfrm>
          <a:prstGeom prst="roundRect">
            <a:avLst/>
          </a:prstGeom>
          <a:solidFill>
            <a:srgbClr val="5E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KLASİK (SAAT)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188720"/>
            <a:ext cx="3017520" cy="457200"/>
          </a:xfrm>
          <a:prstGeom prst="roundRect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PLATFORMSUITE + </a:t>
            </a:r>
            <a:r>
              <a:rPr sz="1300" b="1" dirty="0">
                <a:solidFill>
                  <a:srgbClr val="FFFFFF"/>
                </a:solidFill>
                <a:latin typeface="Calibri"/>
              </a:rPr>
              <a:t>AI (DK)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37360"/>
            <a:ext cx="5029200" cy="502920"/>
          </a:xfrm>
          <a:prstGeom prst="roundRect">
            <a:avLst/>
          </a:prstGeom>
          <a:solidFill>
            <a:srgbClr val="EFF6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 dirty="0">
                <a:solidFill>
                  <a:srgbClr val="1F2937"/>
                </a:solidFill>
                <a:latin typeface="Calibri"/>
              </a:rPr>
              <a:t>Domain </a:t>
            </a:r>
            <a:r>
              <a:rPr sz="1300" b="0" err="1">
                <a:solidFill>
                  <a:srgbClr val="1F2937"/>
                </a:solidFill>
                <a:latin typeface="Calibri"/>
              </a:rPr>
              <a:t>modeli</a:t>
            </a:r>
            <a:r>
              <a:rPr sz="1300" b="0">
                <a:solidFill>
                  <a:srgbClr val="1F2937"/>
                </a:solidFill>
                <a:latin typeface="Calibri"/>
              </a:rPr>
              <a:t> + </a:t>
            </a:r>
            <a:r>
              <a:rPr sz="1300" b="0" dirty="0" err="1">
                <a:solidFill>
                  <a:srgbClr val="1F2937"/>
                </a:solidFill>
                <a:latin typeface="Calibri"/>
              </a:rPr>
              <a:t>DbContext</a:t>
            </a:r>
            <a:r>
              <a:rPr sz="1300" b="0" dirty="0">
                <a:solidFill>
                  <a:srgbClr val="1F2937"/>
                </a:solidFill>
                <a:latin typeface="Calibri"/>
              </a:rPr>
              <a:t> config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1737360"/>
            <a:ext cx="3017520" cy="502920"/>
          </a:xfrm>
          <a:prstGeom prst="roundRect">
            <a:avLst/>
          </a:prstGeom>
          <a:solidFill>
            <a:srgbClr val="EFF6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5E6D7E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1737360"/>
            <a:ext cx="3017520" cy="502920"/>
          </a:xfrm>
          <a:prstGeom prst="roundRect">
            <a:avLst/>
          </a:prstGeom>
          <a:solidFill>
            <a:srgbClr val="EFF6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069E49"/>
                </a:solidFill>
                <a:latin typeface="Calibri"/>
              </a:rP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86000"/>
            <a:ext cx="502920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 dirty="0">
                <a:solidFill>
                  <a:srgbClr val="1F2937"/>
                </a:solidFill>
                <a:latin typeface="Calibri"/>
              </a:rPr>
              <a:t>CRUD </a:t>
            </a:r>
            <a:r>
              <a:rPr sz="1300" b="0" err="1">
                <a:solidFill>
                  <a:srgbClr val="1F2937"/>
                </a:solidFill>
                <a:latin typeface="Calibri"/>
              </a:rPr>
              <a:t>endpoint'leri</a:t>
            </a:r>
            <a:r>
              <a:rPr sz="1300" b="0">
                <a:solidFill>
                  <a:srgbClr val="1F2937"/>
                </a:solidFill>
                <a:latin typeface="Calibri"/>
              </a:rPr>
              <a:t> + </a:t>
            </a:r>
            <a:r>
              <a:rPr sz="1300" b="0" dirty="0">
                <a:solidFill>
                  <a:srgbClr val="1F2937"/>
                </a:solidFill>
                <a:latin typeface="Calibri"/>
              </a:rPr>
              <a:t>validator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2286000"/>
            <a:ext cx="301752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5E6D7E"/>
                </a:solidFill>
                <a:latin typeface="Calibri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2286000"/>
            <a:ext cx="301752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069E49"/>
                </a:solidFill>
                <a:latin typeface="Calibri"/>
              </a:rPr>
              <a:t>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834640"/>
            <a:ext cx="5029200" cy="502920"/>
          </a:xfrm>
          <a:prstGeom prst="roundRect">
            <a:avLst/>
          </a:prstGeom>
          <a:solidFill>
            <a:srgbClr val="EFF6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Mapping + </a:t>
            </a:r>
            <a:r>
              <a:rPr sz="1300" b="0" dirty="0" err="1">
                <a:solidFill>
                  <a:srgbClr val="1F2937"/>
                </a:solidFill>
                <a:latin typeface="Calibri"/>
              </a:rPr>
              <a:t>DTO'lar</a:t>
            </a:r>
            <a:endParaRPr sz="1300" b="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577840" y="2834640"/>
            <a:ext cx="3017520" cy="502920"/>
          </a:xfrm>
          <a:prstGeom prst="roundRect">
            <a:avLst/>
          </a:prstGeom>
          <a:solidFill>
            <a:srgbClr val="EFF6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5E6D7E"/>
                </a:solidFill>
                <a:latin typeface="Calibr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2834640"/>
            <a:ext cx="3017520" cy="502920"/>
          </a:xfrm>
          <a:prstGeom prst="roundRect">
            <a:avLst/>
          </a:prstGeom>
          <a:solidFill>
            <a:srgbClr val="EFF6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069E49"/>
                </a:solidFill>
                <a:latin typeface="Calibr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383280"/>
            <a:ext cx="502920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 dirty="0">
                <a:solidFill>
                  <a:srgbClr val="1F2937"/>
                </a:solidFill>
                <a:latin typeface="Calibri"/>
              </a:rPr>
              <a:t>Frontend </a:t>
            </a:r>
            <a:r>
              <a:rPr sz="1300" b="0">
                <a:solidFill>
                  <a:srgbClr val="1F2937"/>
                </a:solidFill>
                <a:latin typeface="Calibri"/>
              </a:rPr>
              <a:t>types + </a:t>
            </a:r>
            <a:r>
              <a:rPr sz="1300" b="0" dirty="0">
                <a:solidFill>
                  <a:srgbClr val="1F2937"/>
                </a:solidFill>
                <a:latin typeface="Calibri"/>
              </a:rPr>
              <a:t>API hooks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0" y="3383280"/>
            <a:ext cx="301752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5E6D7E"/>
                </a:solidFill>
                <a:latin typeface="Calibri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3383280"/>
            <a:ext cx="301752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069E49"/>
                </a:solidFill>
                <a:latin typeface="Calibri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931920"/>
            <a:ext cx="5029200" cy="502920"/>
          </a:xfrm>
          <a:prstGeom prst="roundRect">
            <a:avLst/>
          </a:prstGeom>
          <a:solidFill>
            <a:srgbClr val="EFF6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Detail sayfası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77840" y="3931920"/>
            <a:ext cx="3017520" cy="502920"/>
          </a:xfrm>
          <a:prstGeom prst="roundRect">
            <a:avLst/>
          </a:prstGeom>
          <a:solidFill>
            <a:srgbClr val="EFF6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5E6D7E"/>
                </a:solidFill>
                <a:latin typeface="Calibri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3931920"/>
            <a:ext cx="3017520" cy="502920"/>
          </a:xfrm>
          <a:prstGeom prst="roundRect">
            <a:avLst/>
          </a:prstGeom>
          <a:solidFill>
            <a:srgbClr val="EFF6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069E49"/>
                </a:solidFill>
                <a:latin typeface="Calibri"/>
              </a:rPr>
              <a:t>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480560"/>
            <a:ext cx="502920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 dirty="0">
                <a:solidFill>
                  <a:srgbClr val="1F2937"/>
                </a:solidFill>
                <a:latin typeface="Calibri"/>
              </a:rPr>
              <a:t>List </a:t>
            </a:r>
            <a:r>
              <a:rPr sz="1300" b="0" err="1">
                <a:solidFill>
                  <a:srgbClr val="1F2937"/>
                </a:solidFill>
                <a:latin typeface="Calibri"/>
              </a:rPr>
              <a:t>sayfası</a:t>
            </a:r>
            <a:r>
              <a:rPr sz="1300" b="0">
                <a:solidFill>
                  <a:srgbClr val="1F2937"/>
                </a:solidFill>
                <a:latin typeface="Calibri"/>
              </a:rPr>
              <a:t> + </a:t>
            </a:r>
            <a:r>
              <a:rPr sz="1300" b="0" dirty="0" err="1">
                <a:solidFill>
                  <a:srgbClr val="1F2937"/>
                </a:solidFill>
                <a:latin typeface="Calibri"/>
              </a:rPr>
              <a:t>filtreler</a:t>
            </a:r>
            <a:endParaRPr sz="1300" b="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577840" y="4480560"/>
            <a:ext cx="301752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5E6D7E"/>
                </a:solidFill>
                <a:latin typeface="Calibri"/>
              </a:rP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4480560"/>
            <a:ext cx="301752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069E49"/>
                </a:solidFill>
                <a:latin typeface="Calibri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029200"/>
            <a:ext cx="5029200" cy="502920"/>
          </a:xfrm>
          <a:prstGeom prst="roundRect">
            <a:avLst/>
          </a:prstGeom>
          <a:solidFill>
            <a:srgbClr val="EFF6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 err="1">
                <a:solidFill>
                  <a:srgbClr val="1F2937"/>
                </a:solidFill>
                <a:latin typeface="Calibri"/>
              </a:rPr>
              <a:t>Yetkilendirme</a:t>
            </a:r>
            <a:r>
              <a:rPr sz="1300" b="0">
                <a:solidFill>
                  <a:srgbClr val="1F2937"/>
                </a:solidFill>
                <a:latin typeface="Calibri"/>
              </a:rPr>
              <a:t> + </a:t>
            </a:r>
            <a:r>
              <a:rPr sz="1300" b="0" dirty="0">
                <a:solidFill>
                  <a:srgbClr val="1F2937"/>
                </a:solidFill>
                <a:latin typeface="Calibri"/>
              </a:rPr>
              <a:t>privilege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77840" y="5029200"/>
            <a:ext cx="3017520" cy="502920"/>
          </a:xfrm>
          <a:prstGeom prst="roundRect">
            <a:avLst/>
          </a:prstGeom>
          <a:solidFill>
            <a:srgbClr val="EFF6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5E6D7E"/>
                </a:solidFill>
                <a:latin typeface="Calibri"/>
              </a:rPr>
              <a:t>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0" y="5029200"/>
            <a:ext cx="3017520" cy="502920"/>
          </a:xfrm>
          <a:prstGeom prst="roundRect">
            <a:avLst/>
          </a:prstGeom>
          <a:solidFill>
            <a:srgbClr val="EFF6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069E49"/>
                </a:solidFill>
                <a:latin typeface="Calibri"/>
              </a:rP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669280"/>
            <a:ext cx="5029200" cy="548640"/>
          </a:xfrm>
          <a:prstGeom prst="roundRect">
            <a:avLst/>
          </a:prstGeom>
          <a:solidFill>
            <a:srgbClr val="021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TOPLAM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77840" y="5669280"/>
            <a:ext cx="3017520" cy="548640"/>
          </a:xfrm>
          <a:prstGeom prst="roundRect">
            <a:avLst/>
          </a:prstGeom>
          <a:solidFill>
            <a:srgbClr val="5E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19 saat (~2.5 gün)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0" y="5669280"/>
            <a:ext cx="3017520" cy="548640"/>
          </a:xfrm>
          <a:prstGeom prst="roundRect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35 dakika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760720"/>
            <a:ext cx="11247120" cy="73152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021343"/>
                </a:solidFill>
                <a:latin typeface="Calibri"/>
              </a:rPr>
              <a:t>~32× hızlanma  •  Basit CRUD için. Karmaşık iş kurallarında oran düşer ama mutlak fayda büyür.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537960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 err="1">
                <a:solidFill>
                  <a:srgbClr val="6B7280"/>
                </a:solidFill>
                <a:latin typeface="Calibri"/>
              </a:rPr>
              <a:t>Codeliman</a:t>
            </a:r>
            <a:r>
              <a:rPr sz="1000" b="0" dirty="0">
                <a:solidFill>
                  <a:srgbClr val="6B7280"/>
                </a:solidFill>
                <a:latin typeface="Calibri"/>
              </a:rPr>
              <a:t>  •  </a:t>
            </a:r>
            <a:r>
              <a:rPr lang="en-US" sz="1000" b="0" dirty="0" err="1">
                <a:solidFill>
                  <a:srgbClr val="6B7280"/>
                </a:solidFill>
                <a:latin typeface="Calibri"/>
              </a:rPr>
              <a:t>PlatformSuite</a:t>
            </a:r>
            <a:r>
              <a:rPr lang="en-US" sz="10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b="0" dirty="0">
                <a:solidFill>
                  <a:srgbClr val="6B7280"/>
                </a:solidFill>
                <a:latin typeface="Calibri"/>
              </a:rPr>
              <a:t>•  Haziran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69E49"/>
                </a:solidFill>
                <a:latin typeface="Calibri"/>
              </a:rPr>
              <a:t>BÖLÜM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1828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0" b="1">
                <a:solidFill>
                  <a:srgbClr val="FEF3C7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108960"/>
            <a:ext cx="82296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Çoklu Uygulama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21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Çoklu Uygulama Kanıtı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Calibri"/>
              </a:rPr>
              <a:t>Aynı tabanda iki farklı uygulama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286000" y="1280160"/>
            <a:ext cx="7589520" cy="1097280"/>
          </a:xfrm>
          <a:prstGeom prst="roundRect">
            <a:avLst/>
          </a:prstGeom>
          <a:solidFill>
            <a:srgbClr val="021343"/>
          </a:solidFill>
          <a:ln w="38100">
            <a:solidFill>
              <a:srgbClr val="069E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0" y="1371600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828800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EFF6FF"/>
                </a:solidFill>
                <a:latin typeface="Calibri"/>
              </a:rPr>
              <a:t>(Paylaşılan Çekirdek)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200400" y="2377440"/>
            <a:ext cx="914400" cy="640080"/>
          </a:xfrm>
          <a:prstGeom prst="bentConnector3">
            <a:avLst/>
          </a:prstGeom>
          <a:ln w="25400">
            <a:solidFill>
              <a:srgbClr val="6B72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046720" y="2377440"/>
            <a:ext cx="914400" cy="640080"/>
          </a:xfrm>
          <a:prstGeom prst="bentConnector3">
            <a:avLst/>
          </a:prstGeom>
          <a:ln w="25400">
            <a:solidFill>
              <a:srgbClr val="6B72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" y="3017520"/>
            <a:ext cx="5029200" cy="32004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021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3017520"/>
            <a:ext cx="5029200" cy="731520"/>
          </a:xfrm>
          <a:prstGeom prst="roundRect">
            <a:avLst/>
          </a:prstGeom>
          <a:solidFill>
            <a:srgbClr val="021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21343"/>
                </a:solidFill>
                <a:latin typeface="Calibri"/>
              </a:rPr>
              <a:t>•  Account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93192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Müşteri kayıtları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348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21343"/>
                </a:solidFill>
                <a:latin typeface="Calibri"/>
              </a:rPr>
              <a:t>•  Contact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4348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Müşteri kişileri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377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21343"/>
                </a:solidFill>
                <a:latin typeface="Calibri"/>
              </a:rPr>
              <a:t>•  Lead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93776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Aday potansiyeller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4406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21343"/>
                </a:solidFill>
                <a:latin typeface="Calibri"/>
              </a:rPr>
              <a:t>•  Opportunity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44068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Satış fırsatları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3017520"/>
            <a:ext cx="5029200" cy="320040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069E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92240" y="3017520"/>
            <a:ext cx="5029200" cy="731520"/>
          </a:xfrm>
          <a:prstGeom prst="roundRect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CodePro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9319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69E49"/>
                </a:solidFill>
                <a:latin typeface="Calibri"/>
              </a:rPr>
              <a:t>•  Supplier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39319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Tedarikçi yönetimi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4348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69E49"/>
                </a:solidFill>
                <a:latin typeface="Calibri"/>
              </a:rPr>
              <a:t>•  PurchaseOrder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4348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Satın alma siparişi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9377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69E49"/>
                </a:solidFill>
                <a:latin typeface="Calibri"/>
              </a:rPr>
              <a:t>•  Budget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49377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Bütçe yönetimi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44068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69E49"/>
                </a:solidFill>
                <a:latin typeface="Calibri"/>
              </a:rPr>
              <a:t>•  Contract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54406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Sözleşme yönetimi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021343"/>
                </a:solidFill>
                <a:latin typeface="Calibri"/>
              </a:rPr>
              <a:t>İki app, sıfır kod tekrarı  •  Auth, Activity, Attachment, Parametre paylaşılıyor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37960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 err="1">
                <a:solidFill>
                  <a:srgbClr val="6B7280"/>
                </a:solidFill>
                <a:latin typeface="Calibri"/>
              </a:rPr>
              <a:t>Codeliman</a:t>
            </a:r>
            <a:r>
              <a:rPr sz="1000" b="0" dirty="0">
                <a:solidFill>
                  <a:srgbClr val="6B7280"/>
                </a:solidFill>
                <a:latin typeface="Calibri"/>
              </a:rPr>
              <a:t>  •  </a:t>
            </a:r>
            <a:r>
              <a:rPr lang="en-US" sz="1000" b="0" dirty="0" err="1">
                <a:solidFill>
                  <a:srgbClr val="6B7280"/>
                </a:solidFill>
                <a:latin typeface="Calibri"/>
              </a:rPr>
              <a:t>PlatformSuite</a:t>
            </a:r>
            <a:r>
              <a:rPr lang="en-US" sz="10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b="0" dirty="0">
                <a:solidFill>
                  <a:srgbClr val="6B7280"/>
                </a:solidFill>
                <a:latin typeface="Calibri"/>
              </a:rPr>
              <a:t>•  Haziran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69E49"/>
                </a:solidFill>
                <a:latin typeface="Calibri"/>
              </a:rPr>
              <a:t>BÖLÜM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1828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0" b="1">
                <a:solidFill>
                  <a:srgbClr val="FEF3C7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108960"/>
            <a:ext cx="82296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21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Roadmap — Faz 0 (Şu An Hazır)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Calibri"/>
              </a:rPr>
              <a:t>Canlı kanıtlar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657600" cy="146304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069E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40080" y="1463040"/>
            <a:ext cx="914400" cy="914400"/>
          </a:xfrm>
          <a:prstGeom prst="ellipse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46304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Calibri"/>
              </a:rPr>
              <a:t>Multi-app mimari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9659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 err="1">
                <a:solidFill>
                  <a:srgbClr val="069E49"/>
                </a:solidFill>
                <a:latin typeface="Calibri"/>
              </a:rPr>
              <a:t>Canlı</a:t>
            </a:r>
            <a:r>
              <a:rPr sz="1200" b="1" dirty="0">
                <a:solidFill>
                  <a:srgbClr val="069E49"/>
                </a:solidFill>
                <a:latin typeface="Calibri"/>
              </a:rPr>
              <a:t> (</a:t>
            </a:r>
            <a:r>
              <a:rPr sz="1200" b="1">
                <a:solidFill>
                  <a:srgbClr val="069E49"/>
                </a:solidFill>
                <a:latin typeface="Calibri"/>
              </a:rPr>
              <a:t>CRM + </a:t>
            </a:r>
            <a:r>
              <a:rPr sz="1200" b="1" dirty="0" err="1">
                <a:solidFill>
                  <a:srgbClr val="069E49"/>
                </a:solidFill>
                <a:latin typeface="Calibri"/>
              </a:rPr>
              <a:t>CodePro</a:t>
            </a:r>
            <a:r>
              <a:rPr sz="1200" b="1" dirty="0">
                <a:solidFill>
                  <a:srgbClr val="069E49"/>
                </a:solidFill>
                <a:latin typeface="Calibri"/>
              </a:rPr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188720"/>
            <a:ext cx="3657600" cy="146304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069E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26280" y="1463040"/>
            <a:ext cx="914400" cy="914400"/>
          </a:xfrm>
          <a:prstGeom prst="ellipse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146304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Calibri"/>
              </a:rPr>
              <a:t>Auth + </a:t>
            </a:r>
            <a:r>
              <a:rPr sz="1400" b="1" dirty="0">
                <a:solidFill>
                  <a:srgbClr val="1F2937"/>
                </a:solidFill>
                <a:latin typeface="Calibri"/>
              </a:rPr>
              <a:t>Privilege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19659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69E49"/>
                </a:solidFill>
                <a:latin typeface="Calibri"/>
              </a:rPr>
              <a:t>Canlı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188720"/>
            <a:ext cx="3657600" cy="146304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069E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412480" y="1463040"/>
            <a:ext cx="914400" cy="914400"/>
          </a:xfrm>
          <a:prstGeom prst="ellipse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146304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Calibri"/>
              </a:rPr>
              <a:t>Activity motoru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19659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69E49"/>
                </a:solidFill>
                <a:latin typeface="Calibri"/>
              </a:rPr>
              <a:t>Canlı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834640"/>
            <a:ext cx="3657600" cy="146304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069E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0080" y="3108960"/>
            <a:ext cx="914400" cy="914400"/>
          </a:xfrm>
          <a:prstGeom prst="ellipse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1089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Calibri"/>
              </a:rPr>
              <a:t>Attachment + </a:t>
            </a:r>
            <a:r>
              <a:rPr sz="1400" b="1" dirty="0" err="1">
                <a:solidFill>
                  <a:srgbClr val="1F2937"/>
                </a:solidFill>
                <a:latin typeface="Calibri"/>
              </a:rPr>
              <a:t>RichText</a:t>
            </a:r>
            <a:endParaRPr sz="1400" b="1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45920" y="36118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69E49"/>
                </a:solidFill>
                <a:latin typeface="Calibri"/>
              </a:rPr>
              <a:t>Canlı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2834640"/>
            <a:ext cx="3657600" cy="146304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069E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26280" y="3108960"/>
            <a:ext cx="914400" cy="914400"/>
          </a:xfrm>
          <a:prstGeom prst="ellipse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31089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Calibri"/>
              </a:rPr>
              <a:t>GeneralParameter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36118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69E49"/>
                </a:solidFill>
                <a:latin typeface="Calibri"/>
              </a:rPr>
              <a:t>Faz 1 tamam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2834640"/>
            <a:ext cx="3657600" cy="146304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069E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412480" y="3108960"/>
            <a:ext cx="914400" cy="914400"/>
          </a:xfrm>
          <a:prstGeom prst="ellipse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1089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Calibri"/>
              </a:rPr>
              <a:t>@platform/ui kütüphanesi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36118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69E49"/>
                </a:solidFill>
                <a:latin typeface="Calibri"/>
              </a:rPr>
              <a:t>15+ </a:t>
            </a:r>
            <a:r>
              <a:rPr sz="1200" b="1" dirty="0">
                <a:solidFill>
                  <a:srgbClr val="069E49"/>
                </a:solidFill>
                <a:latin typeface="Calibri"/>
              </a:rPr>
              <a:t>component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480560"/>
            <a:ext cx="3657600" cy="146304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069E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40080" y="4754880"/>
            <a:ext cx="914400" cy="914400"/>
          </a:xfrm>
          <a:prstGeom prst="ellipse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47548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Calibri"/>
              </a:rPr>
              <a:t>Detail / List pattern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52578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69E49"/>
                </a:solidFill>
                <a:latin typeface="Calibri"/>
              </a:rPr>
              <a:t>Canlı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480560"/>
            <a:ext cx="3657600" cy="146304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069E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526280" y="4754880"/>
            <a:ext cx="914400" cy="914400"/>
          </a:xfrm>
          <a:prstGeom prst="ellipse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47548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Calibri"/>
              </a:rPr>
              <a:t>EntityReferenceResolver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32120" y="52578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69E49"/>
                </a:solidFill>
                <a:latin typeface="Calibri"/>
              </a:rPr>
              <a:t>Canlı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0" y="4480560"/>
            <a:ext cx="3657600" cy="146304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069E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412480" y="4754880"/>
            <a:ext cx="914400" cy="914400"/>
          </a:xfrm>
          <a:prstGeom prst="ellipse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47548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Calibri"/>
              </a:rPr>
              <a:t>AI rehber dokümanları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52578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69E49"/>
                </a:solidFill>
                <a:latin typeface="Calibri"/>
              </a:rPr>
              <a:t>3 doküman canlı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537960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 err="1">
                <a:solidFill>
                  <a:srgbClr val="6B7280"/>
                </a:solidFill>
                <a:latin typeface="Calibri"/>
              </a:rPr>
              <a:t>Codeliman</a:t>
            </a:r>
            <a:r>
              <a:rPr sz="1000" b="0" dirty="0">
                <a:solidFill>
                  <a:srgbClr val="6B7280"/>
                </a:solidFill>
                <a:latin typeface="Calibri"/>
              </a:rPr>
              <a:t>  •  </a:t>
            </a:r>
            <a:r>
              <a:rPr lang="en-US" sz="1000" b="0" dirty="0" err="1">
                <a:solidFill>
                  <a:srgbClr val="6B7280"/>
                </a:solidFill>
                <a:latin typeface="Calibri"/>
              </a:rPr>
              <a:t>PlatformSuite</a:t>
            </a:r>
            <a:r>
              <a:rPr lang="en-US" sz="10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b="0" dirty="0">
                <a:solidFill>
                  <a:srgbClr val="6B7280"/>
                </a:solidFill>
                <a:latin typeface="Calibri"/>
              </a:rPr>
              <a:t>•  Haziran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21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Calibri"/>
              </a:rPr>
              <a:t>Roadmap — Faz </a:t>
            </a:r>
            <a:r>
              <a:rPr lang="tr-TR" sz="2600" b="1" dirty="0">
                <a:solidFill>
                  <a:srgbClr val="FFFFFF"/>
                </a:solidFill>
                <a:latin typeface="Calibri"/>
              </a:rPr>
              <a:t>1</a:t>
            </a:r>
            <a:r>
              <a:rPr sz="2600" b="1" dirty="0">
                <a:solidFill>
                  <a:srgbClr val="FFFFFF"/>
                </a:solidFill>
                <a:latin typeface="Calibri"/>
              </a:rPr>
              <a:t> &amp; </a:t>
            </a:r>
            <a:r>
              <a:rPr lang="tr-TR" sz="2600" b="1" dirty="0">
                <a:solidFill>
                  <a:srgbClr val="FFFFFF"/>
                </a:solidFill>
                <a:latin typeface="Calibri"/>
              </a:rPr>
              <a:t>2</a:t>
            </a:r>
            <a:endParaRPr sz="26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 err="1">
                <a:solidFill>
                  <a:srgbClr val="EFF6FF"/>
                </a:solidFill>
                <a:latin typeface="Calibri"/>
              </a:rPr>
              <a:t>Pazara</a:t>
            </a:r>
            <a:r>
              <a:rPr sz="1400" b="0" dirty="0">
                <a:solidFill>
                  <a:srgbClr val="EFF6FF"/>
                </a:solidFill>
                <a:latin typeface="Calibri"/>
              </a:rPr>
              <a:t> </a:t>
            </a:r>
            <a:r>
              <a:rPr sz="1400" b="0" err="1">
                <a:solidFill>
                  <a:srgbClr val="EFF6FF"/>
                </a:solidFill>
                <a:latin typeface="Calibri"/>
              </a:rPr>
              <a:t>Çıkış</a:t>
            </a:r>
            <a:r>
              <a:rPr sz="1400" b="0">
                <a:solidFill>
                  <a:srgbClr val="EFF6FF"/>
                </a:solidFill>
                <a:latin typeface="Calibri"/>
              </a:rPr>
              <a:t> + </a:t>
            </a:r>
            <a:r>
              <a:rPr sz="1400" b="0" dirty="0" err="1">
                <a:solidFill>
                  <a:srgbClr val="EFF6FF"/>
                </a:solidFill>
                <a:latin typeface="Calibri"/>
              </a:rPr>
              <a:t>Genişleme</a:t>
            </a:r>
            <a:endParaRPr sz="1400" b="0" dirty="0">
              <a:solidFill>
                <a:srgbClr val="EFF6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62490" y="2090057"/>
            <a:ext cx="5517033" cy="4143538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121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577840" cy="822960"/>
          </a:xfrm>
          <a:prstGeom prst="roundRect">
            <a:avLst/>
          </a:prstGeom>
          <a:solidFill>
            <a:srgbClr val="121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FAZ </a:t>
            </a:r>
            <a:r>
              <a:rPr lang="tr-TR" sz="1600" b="1" dirty="0">
                <a:solidFill>
                  <a:srgbClr val="FFFFFF"/>
                </a:solidFill>
                <a:latin typeface="Calibri"/>
              </a:rPr>
              <a:t>1</a:t>
            </a:r>
            <a:endParaRPr sz="16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1330" y="3268979"/>
            <a:ext cx="52120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dirty="0">
                <a:solidFill>
                  <a:srgbClr val="1F2937"/>
                </a:solidFill>
                <a:latin typeface="Calibri"/>
              </a:rPr>
              <a:t>✓  Demo </a:t>
            </a:r>
            <a:r>
              <a:rPr sz="1400" b="0" dirty="0" err="1">
                <a:solidFill>
                  <a:srgbClr val="1F2937"/>
                </a:solidFill>
                <a:latin typeface="Calibri"/>
              </a:rPr>
              <a:t>ortam</a:t>
            </a:r>
            <a:r>
              <a:rPr sz="1400" b="0" dirty="0">
                <a:solidFill>
                  <a:srgbClr val="1F2937"/>
                </a:solidFill>
                <a:latin typeface="Calibri"/>
              </a:rPr>
              <a:t> (</a:t>
            </a:r>
            <a:r>
              <a:rPr sz="1400" b="0" dirty="0" err="1">
                <a:solidFill>
                  <a:srgbClr val="1F2937"/>
                </a:solidFill>
                <a:latin typeface="Calibri"/>
              </a:rPr>
              <a:t>demo.platformsuite.com</a:t>
            </a:r>
            <a:r>
              <a:rPr sz="1400" b="0" dirty="0">
                <a:solidFill>
                  <a:srgbClr val="1F2937"/>
                </a:solidFill>
                <a:latin typeface="Calibri"/>
              </a:rPr>
              <a:t>)</a:t>
            </a:r>
            <a:endParaRPr lang="tr-TR" sz="1400" b="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12479" y="2127496"/>
            <a:ext cx="5486400" cy="4106099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069E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17920" y="1188720"/>
            <a:ext cx="5486400" cy="822960"/>
          </a:xfrm>
          <a:prstGeom prst="roundRect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FAZ </a:t>
            </a:r>
            <a:r>
              <a:rPr lang="tr-TR" sz="1600" b="1" dirty="0">
                <a:solidFill>
                  <a:srgbClr val="FFFFFF"/>
                </a:solidFill>
                <a:latin typeface="Calibri"/>
              </a:rPr>
              <a:t>2</a:t>
            </a:r>
            <a:endParaRPr sz="16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1330" y="3615844"/>
            <a:ext cx="512064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TR" sz="1400" dirty="0">
                <a:solidFill>
                  <a:srgbClr val="1F2937"/>
                </a:solidFill>
              </a:rPr>
              <a:t>✓</a:t>
            </a:r>
            <a:r>
              <a:rPr sz="1400" b="0" dirty="0">
                <a:solidFill>
                  <a:srgbClr val="1F2937"/>
                </a:solidFill>
                <a:latin typeface="Calibri"/>
              </a:rPr>
              <a:t>  Workflow / BPM </a:t>
            </a:r>
            <a:r>
              <a:rPr sz="1400" b="0" dirty="0" err="1">
                <a:solidFill>
                  <a:srgbClr val="1F2937"/>
                </a:solidFill>
                <a:latin typeface="Calibri"/>
              </a:rPr>
              <a:t>motoru</a:t>
            </a:r>
            <a:endParaRPr sz="1400" b="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1330" y="3962709"/>
            <a:ext cx="512064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TR" sz="1400" dirty="0">
                <a:solidFill>
                  <a:srgbClr val="1F2937"/>
                </a:solidFill>
              </a:rPr>
              <a:t>✓</a:t>
            </a:r>
            <a:r>
              <a:rPr sz="1400" b="0" dirty="0">
                <a:solidFill>
                  <a:srgbClr val="1F2937"/>
                </a:solidFill>
                <a:latin typeface="Calibri"/>
              </a:rPr>
              <a:t>  </a:t>
            </a:r>
            <a:r>
              <a:rPr lang="tr-TR" sz="1400" b="0" dirty="0" err="1">
                <a:solidFill>
                  <a:srgbClr val="1F2937"/>
                </a:solidFill>
                <a:latin typeface="Calibri"/>
              </a:rPr>
              <a:t>Template</a:t>
            </a:r>
            <a:r>
              <a:rPr lang="tr-TR" sz="1400" b="0" dirty="0">
                <a:solidFill>
                  <a:srgbClr val="1F2937"/>
                </a:solidFill>
                <a:latin typeface="Calibri"/>
              </a:rPr>
              <a:t> Engine</a:t>
            </a:r>
            <a:endParaRPr sz="1400" b="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1330" y="4326815"/>
            <a:ext cx="512064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TR" sz="1400" dirty="0">
                <a:solidFill>
                  <a:srgbClr val="1F2937"/>
                </a:solidFill>
              </a:rPr>
              <a:t>✓</a:t>
            </a:r>
            <a:r>
              <a:rPr sz="1400" b="0" dirty="0">
                <a:solidFill>
                  <a:srgbClr val="1F2937"/>
                </a:solidFill>
                <a:latin typeface="Calibri"/>
              </a:rPr>
              <a:t>  Bildirim </a:t>
            </a:r>
            <a:r>
              <a:rPr sz="1400" b="0" dirty="0" err="1">
                <a:solidFill>
                  <a:srgbClr val="1F2937"/>
                </a:solidFill>
                <a:latin typeface="Calibri"/>
              </a:rPr>
              <a:t>altyapısı</a:t>
            </a:r>
            <a:r>
              <a:rPr sz="1400" b="0" dirty="0">
                <a:solidFill>
                  <a:srgbClr val="1F2937"/>
                </a:solidFill>
                <a:latin typeface="Calibri"/>
              </a:rPr>
              <a:t> (push/email/</a:t>
            </a:r>
            <a:r>
              <a:rPr sz="1400" b="0" dirty="0" err="1">
                <a:solidFill>
                  <a:srgbClr val="1F2937"/>
                </a:solidFill>
                <a:latin typeface="Calibri"/>
              </a:rPr>
              <a:t>sms</a:t>
            </a:r>
            <a:r>
              <a:rPr sz="1400" b="0" dirty="0">
                <a:solidFill>
                  <a:srgbClr val="1F2937"/>
                </a:solidFill>
                <a:latin typeface="Calibri"/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8994" y="4409484"/>
            <a:ext cx="512064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TR" sz="1400" dirty="0">
                <a:solidFill>
                  <a:srgbClr val="1F2937"/>
                </a:solidFill>
              </a:rPr>
              <a:t>✓</a:t>
            </a:r>
            <a:r>
              <a:rPr sz="1400" b="0" dirty="0">
                <a:solidFill>
                  <a:srgbClr val="1F2937"/>
                </a:solidFill>
                <a:latin typeface="Calibri"/>
              </a:rPr>
              <a:t>  Mobile-</a:t>
            </a:r>
            <a:r>
              <a:rPr lang="en-US" sz="1400" b="0" dirty="0">
                <a:solidFill>
                  <a:srgbClr val="1F2937"/>
                </a:solidFill>
                <a:latin typeface="Calibri"/>
              </a:rPr>
              <a:t>first support (UI </a:t>
            </a:r>
            <a:r>
              <a:rPr sz="1400" b="0" dirty="0" err="1">
                <a:solidFill>
                  <a:srgbClr val="1F2937"/>
                </a:solidFill>
                <a:latin typeface="Calibri"/>
              </a:rPr>
              <a:t>pattern'leri</a:t>
            </a:r>
            <a:r>
              <a:rPr lang="tr-TR" sz="1400" b="0" dirty="0">
                <a:solidFill>
                  <a:srgbClr val="1F2937"/>
                </a:solidFill>
                <a:latin typeface="Calibri"/>
              </a:rP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37960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 err="1">
                <a:solidFill>
                  <a:srgbClr val="6B7280"/>
                </a:solidFill>
                <a:latin typeface="Calibri"/>
              </a:rPr>
              <a:t>Codeliman</a:t>
            </a:r>
            <a:r>
              <a:rPr sz="1000" b="0" dirty="0">
                <a:solidFill>
                  <a:srgbClr val="6B7280"/>
                </a:solidFill>
                <a:latin typeface="Calibri"/>
              </a:rPr>
              <a:t>  •  </a:t>
            </a:r>
            <a:r>
              <a:rPr lang="en-US" sz="1000" b="0" dirty="0" err="1">
                <a:solidFill>
                  <a:srgbClr val="6B7280"/>
                </a:solidFill>
                <a:latin typeface="Calibri"/>
              </a:rPr>
              <a:t>PlatformSuite</a:t>
            </a:r>
            <a:r>
              <a:rPr lang="en-US" sz="10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b="0" dirty="0">
                <a:solidFill>
                  <a:srgbClr val="6B7280"/>
                </a:solidFill>
                <a:latin typeface="Calibri"/>
              </a:rPr>
              <a:t>•  Haziran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8994" y="3257340"/>
            <a:ext cx="512064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TR" sz="1400" dirty="0">
                <a:solidFill>
                  <a:srgbClr val="1F2937"/>
                </a:solidFill>
              </a:rPr>
              <a:t>✓ </a:t>
            </a:r>
            <a:r>
              <a:rPr sz="1400" b="0" dirty="0">
                <a:solidFill>
                  <a:srgbClr val="1F2937"/>
                </a:solidFill>
                <a:latin typeface="Calibri"/>
              </a:rPr>
              <a:t>AI agent </a:t>
            </a:r>
            <a:r>
              <a:rPr sz="1400" b="0" dirty="0" err="1">
                <a:solidFill>
                  <a:srgbClr val="1F2937"/>
                </a:solidFill>
                <a:latin typeface="Calibri"/>
              </a:rPr>
              <a:t>template'leri</a:t>
            </a:r>
            <a:endParaRPr sz="1400" b="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32120" y="3601827"/>
            <a:ext cx="52120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dirty="0">
                <a:solidFill>
                  <a:srgbClr val="1F2937"/>
                </a:solidFill>
                <a:latin typeface="Calibri"/>
              </a:rPr>
              <a:t>✓  AI </a:t>
            </a:r>
            <a:r>
              <a:rPr sz="1400" b="0" dirty="0" err="1">
                <a:solidFill>
                  <a:srgbClr val="1F2937"/>
                </a:solidFill>
                <a:latin typeface="Calibri"/>
              </a:rPr>
              <a:t>rehberini</a:t>
            </a:r>
            <a:r>
              <a:rPr sz="1400" b="0" dirty="0">
                <a:solidFill>
                  <a:srgbClr val="1F293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F2937"/>
                </a:solidFill>
                <a:latin typeface="Calibri"/>
              </a:rPr>
              <a:t>diğer</a:t>
            </a:r>
            <a:r>
              <a:rPr sz="1400" b="0" dirty="0">
                <a:solidFill>
                  <a:srgbClr val="1F293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F2937"/>
                </a:solidFill>
                <a:latin typeface="Calibri"/>
              </a:rPr>
              <a:t>modellere</a:t>
            </a:r>
            <a:r>
              <a:rPr sz="1400" b="0" dirty="0">
                <a:solidFill>
                  <a:srgbClr val="1F293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F2937"/>
                </a:solidFill>
                <a:latin typeface="Calibri"/>
              </a:rPr>
              <a:t>taşı</a:t>
            </a:r>
            <a:r>
              <a:rPr sz="1400" b="0" dirty="0">
                <a:solidFill>
                  <a:srgbClr val="1F2937"/>
                </a:solidFill>
                <a:latin typeface="Calibri"/>
              </a:rPr>
              <a:t> (GPT, Gemini)</a:t>
            </a:r>
            <a:endParaRPr lang="tr-TR" sz="1400" b="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45183" y="3946314"/>
            <a:ext cx="52120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dirty="0">
                <a:solidFill>
                  <a:srgbClr val="1F2937"/>
                </a:solidFill>
                <a:latin typeface="Calibri"/>
              </a:rPr>
              <a:t>✓  </a:t>
            </a:r>
            <a:r>
              <a:rPr sz="1400" b="0" dirty="0" err="1">
                <a:solidFill>
                  <a:srgbClr val="1F2937"/>
                </a:solidFill>
                <a:latin typeface="Calibri"/>
              </a:rPr>
              <a:t>Eğitim</a:t>
            </a:r>
            <a:r>
              <a:rPr sz="1400" b="0" dirty="0">
                <a:solidFill>
                  <a:srgbClr val="1F293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F2937"/>
                </a:solidFill>
                <a:latin typeface="Calibri"/>
              </a:rPr>
              <a:t>materyali</a:t>
            </a:r>
            <a:r>
              <a:rPr sz="1400" b="0" dirty="0">
                <a:solidFill>
                  <a:srgbClr val="1F2937"/>
                </a:solidFill>
                <a:latin typeface="Calibri"/>
              </a:rPr>
              <a:t> (video </a:t>
            </a:r>
            <a:r>
              <a:rPr sz="1400" b="0" dirty="0" err="1">
                <a:solidFill>
                  <a:srgbClr val="1F2937"/>
                </a:solidFill>
                <a:latin typeface="Calibri"/>
              </a:rPr>
              <a:t>kursu</a:t>
            </a:r>
            <a:r>
              <a:rPr sz="1400" b="0" dirty="0">
                <a:solidFill>
                  <a:srgbClr val="1F2937"/>
                </a:solidFill>
                <a:latin typeface="Calibri"/>
              </a:rPr>
              <a:t> + lab)</a:t>
            </a:r>
            <a:endParaRPr lang="tr-TR" sz="1400" b="0" dirty="0">
              <a:solidFill>
                <a:srgbClr val="1F2937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21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Calibri"/>
              </a:rPr>
              <a:t>BPM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Calibri"/>
              </a:rPr>
              <a:t>Üç katmanlı strateji: basit'ten BPMN 2.0'a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6576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21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3657600" cy="822960"/>
          </a:xfrm>
          <a:prstGeom prst="roundRect">
            <a:avLst/>
          </a:prstGeom>
          <a:solidFill>
            <a:srgbClr val="121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TIER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21147"/>
                </a:solidFill>
                <a:latin typeface="Calibri"/>
              </a:rPr>
              <a:t>Hazır Maker-Checker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Calibri"/>
              </a:rPr>
              <a:t>1-2 adımlı onay zinciri</a:t>
            </a:r>
          </a:p>
          <a:p>
            <a:pPr algn="ctr"/>
            <a:r>
              <a:rPr sz="1300" b="0">
                <a:solidFill>
                  <a:srgbClr val="1F2937"/>
                </a:solidFill>
                <a:latin typeface="Calibri"/>
              </a:rPr>
              <a:t>Entity üzerine etiket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3108960" cy="109728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06908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21343"/>
                </a:solidFill>
                <a:latin typeface="Calibri"/>
              </a:rPr>
              <a:t>Tipik Senaryo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43400"/>
            <a:ext cx="29260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"Fiyat değişikliği müdür onayına gider"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60520" y="3200400"/>
            <a:ext cx="137160" cy="0"/>
          </a:xfrm>
          <a:prstGeom prst="bentConnector3">
            <a:avLst/>
          </a:prstGeom>
          <a:ln w="25400">
            <a:solidFill>
              <a:srgbClr val="6B72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43400" y="1188720"/>
            <a:ext cx="36576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4A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343400" y="1188720"/>
            <a:ext cx="3657600" cy="822960"/>
          </a:xfrm>
          <a:prstGeom prst="roundRect">
            <a:avLst/>
          </a:prstGeom>
          <a:solidFill>
            <a:srgbClr val="54A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TIER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10312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54ADD3"/>
                </a:solidFill>
                <a:latin typeface="Calibri"/>
              </a:rPr>
              <a:t>Complex Maker-Checker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743200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Calibri"/>
              </a:rPr>
              <a:t>Paralel onay, koşullu rota,</a:t>
            </a:r>
          </a:p>
          <a:p>
            <a:pPr algn="ctr"/>
            <a:r>
              <a:rPr sz="1300" b="0">
                <a:solidFill>
                  <a:srgbClr val="1F2937"/>
                </a:solidFill>
                <a:latin typeface="Calibri"/>
              </a:rPr>
              <a:t>eskalasyon, delegasyon, SLA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4023360"/>
            <a:ext cx="3108960" cy="109728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09160" y="406908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21343"/>
                </a:solidFill>
                <a:latin typeface="Calibri"/>
              </a:rPr>
              <a:t>Tipik Senaryo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343400"/>
            <a:ext cx="29260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1F2937"/>
                </a:solidFill>
                <a:latin typeface="Calibri"/>
              </a:rPr>
              <a:t>"100K </a:t>
            </a:r>
            <a:r>
              <a:rPr sz="1100" b="0" dirty="0" err="1">
                <a:solidFill>
                  <a:srgbClr val="1F2937"/>
                </a:solidFill>
                <a:latin typeface="Calibri"/>
              </a:rPr>
              <a:t>üstü</a:t>
            </a:r>
            <a:r>
              <a:rPr sz="1100" b="0" dirty="0">
                <a:solidFill>
                  <a:srgbClr val="1F2937"/>
                </a:solidFill>
                <a:latin typeface="Calibri"/>
              </a:rPr>
              <a:t> → </a:t>
            </a:r>
            <a:r>
              <a:rPr sz="1100" b="0">
                <a:solidFill>
                  <a:srgbClr val="1F2937"/>
                </a:solidFill>
                <a:latin typeface="Calibri"/>
              </a:rPr>
              <a:t>CFO + </a:t>
            </a:r>
            <a:r>
              <a:rPr sz="1100" b="0" dirty="0">
                <a:solidFill>
                  <a:srgbClr val="1F2937"/>
                </a:solidFill>
                <a:latin typeface="Calibri"/>
              </a:rPr>
              <a:t>CEO </a:t>
            </a:r>
            <a:r>
              <a:rPr sz="1100" b="0" dirty="0" err="1">
                <a:solidFill>
                  <a:srgbClr val="1F2937"/>
                </a:solidFill>
                <a:latin typeface="Calibri"/>
              </a:rPr>
              <a:t>paralel</a:t>
            </a:r>
            <a:r>
              <a:rPr sz="1100" b="0" dirty="0">
                <a:solidFill>
                  <a:srgbClr val="1F2937"/>
                </a:solidFill>
                <a:latin typeface="Calibri"/>
              </a:rPr>
              <a:t>,</a:t>
            </a:r>
          </a:p>
          <a:p>
            <a:pPr algn="l"/>
            <a:r>
              <a:rPr sz="1100" b="0" dirty="0">
                <a:solidFill>
                  <a:srgbClr val="1F2937"/>
                </a:solidFill>
                <a:latin typeface="Calibri"/>
              </a:rPr>
              <a:t>3 </a:t>
            </a:r>
            <a:r>
              <a:rPr sz="1100" b="0" dirty="0" err="1">
                <a:solidFill>
                  <a:srgbClr val="1F2937"/>
                </a:solidFill>
                <a:latin typeface="Calibri"/>
              </a:rPr>
              <a:t>gün</a:t>
            </a:r>
            <a:r>
              <a:rPr sz="1100" b="0" dirty="0">
                <a:solidFill>
                  <a:srgbClr val="1F2937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1F2937"/>
                </a:solidFill>
                <a:latin typeface="Calibri"/>
              </a:rPr>
              <a:t>cevap</a:t>
            </a:r>
            <a:r>
              <a:rPr sz="1100" b="0" dirty="0">
                <a:solidFill>
                  <a:srgbClr val="1F2937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1F2937"/>
                </a:solidFill>
                <a:latin typeface="Calibri"/>
              </a:rPr>
              <a:t>yoksa</a:t>
            </a:r>
            <a:r>
              <a:rPr sz="1100" b="0" dirty="0">
                <a:solidFill>
                  <a:srgbClr val="1F2937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1F2937"/>
                </a:solidFill>
                <a:latin typeface="Calibri"/>
              </a:rPr>
              <a:t>eskalasyon</a:t>
            </a:r>
            <a:r>
              <a:rPr sz="1100" b="0" dirty="0">
                <a:solidFill>
                  <a:srgbClr val="1F2937"/>
                </a:solidFill>
                <a:latin typeface="Calibri"/>
              </a:rPr>
              <a:t>"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46720" y="3200400"/>
            <a:ext cx="137160" cy="0"/>
          </a:xfrm>
          <a:prstGeom prst="bentConnector3">
            <a:avLst/>
          </a:prstGeom>
          <a:ln w="25400">
            <a:solidFill>
              <a:srgbClr val="6B72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29600" y="1188720"/>
            <a:ext cx="36576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9E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229600" y="1188720"/>
            <a:ext cx="3657600" cy="822960"/>
          </a:xfrm>
          <a:prstGeom prst="roundRect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TIER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10312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069E49"/>
                </a:solidFill>
                <a:latin typeface="Calibri"/>
              </a:rPr>
              <a:t>BPM 2.0 Advanced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743200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Calibri"/>
              </a:rPr>
              <a:t>Tam BPMN 2.0 process designer,</a:t>
            </a:r>
          </a:p>
          <a:p>
            <a:pPr algn="ctr"/>
            <a:r>
              <a:rPr sz="1300" b="0">
                <a:solidFill>
                  <a:srgbClr val="1F2937"/>
                </a:solidFill>
                <a:latin typeface="Calibri"/>
              </a:rPr>
              <a:t>sub-process, timer, message events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3920" y="4023360"/>
            <a:ext cx="3108960" cy="109728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95360" y="406908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21343"/>
                </a:solidFill>
                <a:latin typeface="Calibri"/>
              </a:rPr>
              <a:t>Tipik Senaryo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4343400"/>
            <a:ext cx="29260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"Sipariş → üretim → kalite →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sevkiyat tam iş akışı"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486400"/>
            <a:ext cx="11247120" cy="914400"/>
          </a:xfrm>
          <a:prstGeom prst="roundRect">
            <a:avLst/>
          </a:prstGeom>
          <a:solidFill>
            <a:srgbClr val="021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55321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EF3C7"/>
                </a:solidFill>
                <a:latin typeface="Calibri"/>
              </a:rPr>
              <a:t>Ortak: Audit trail  •  Notification Engine entegrasyonu  •  Mobile onay  •  Toplu onay workspace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Müşteri ihtiyacına göre seçer — basitten karmaşığa AYNI motor üzerinde büyür.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37960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 err="1">
                <a:solidFill>
                  <a:srgbClr val="6B7280"/>
                </a:solidFill>
                <a:latin typeface="Calibri"/>
              </a:rPr>
              <a:t>Codeliman</a:t>
            </a:r>
            <a:r>
              <a:rPr sz="1000" b="0" dirty="0">
                <a:solidFill>
                  <a:srgbClr val="6B7280"/>
                </a:solidFill>
                <a:latin typeface="Calibri"/>
              </a:rPr>
              <a:t>  •  </a:t>
            </a:r>
            <a:r>
              <a:rPr lang="en-US" sz="1000" b="0" dirty="0" err="1">
                <a:solidFill>
                  <a:srgbClr val="6B7280"/>
                </a:solidFill>
                <a:latin typeface="Calibri"/>
              </a:rPr>
              <a:t>PlatformSuite</a:t>
            </a:r>
            <a:r>
              <a:rPr lang="en-US" sz="10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b="0" dirty="0">
                <a:solidFill>
                  <a:srgbClr val="6B7280"/>
                </a:solidFill>
                <a:latin typeface="Calibri"/>
              </a:rPr>
              <a:t>•  Haziran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21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42845"/>
            <a:ext cx="11277295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Calibri"/>
              </a:rPr>
              <a:t>Template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Calibri"/>
              </a:rPr>
              <a:t>E-posta, sözleşme, teklif — tek motor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65760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21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3657600" cy="822960"/>
          </a:xfrm>
          <a:prstGeom prst="roundRect">
            <a:avLst/>
          </a:prstGeom>
          <a:solidFill>
            <a:srgbClr val="121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7160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E-POSTA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Calibri"/>
              </a:rPr>
              <a:t>Sipariş onayı, fatura,</a:t>
            </a:r>
          </a:p>
          <a:p>
            <a:pPr algn="ctr"/>
            <a:r>
              <a:rPr sz="1300" b="0">
                <a:solidFill>
                  <a:srgbClr val="1F2937"/>
                </a:solidFill>
                <a:latin typeface="Calibri"/>
              </a:rPr>
              <a:t>bildirim, pazarlama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188720"/>
            <a:ext cx="365760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4A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43400" y="1188720"/>
            <a:ext cx="3657600" cy="822960"/>
          </a:xfrm>
          <a:prstGeom prst="roundRect">
            <a:avLst/>
          </a:prstGeom>
          <a:solidFill>
            <a:srgbClr val="54A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43400" y="1280160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137160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SÖZLEŞME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10312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dirty="0" err="1">
                <a:solidFill>
                  <a:srgbClr val="1F2937"/>
                </a:solidFill>
                <a:latin typeface="Calibri"/>
              </a:rPr>
              <a:t>Tedarikçi</a:t>
            </a:r>
            <a:r>
              <a:rPr sz="1300" b="0" dirty="0">
                <a:solidFill>
                  <a:srgbClr val="1F2937"/>
                </a:solidFill>
                <a:latin typeface="Calibri"/>
              </a:rPr>
              <a:t>, NDA,</a:t>
            </a:r>
          </a:p>
          <a:p>
            <a:pPr algn="ctr"/>
            <a:r>
              <a:rPr sz="1300" b="0" dirty="0" err="1">
                <a:solidFill>
                  <a:srgbClr val="1F2937"/>
                </a:solidFill>
                <a:latin typeface="Calibri"/>
              </a:rPr>
              <a:t>müşteri</a:t>
            </a:r>
            <a:r>
              <a:rPr sz="1300" b="0" dirty="0">
                <a:solidFill>
                  <a:srgbClr val="1F2937"/>
                </a:solidFill>
                <a:latin typeface="Calibri"/>
              </a:rPr>
              <a:t> </a:t>
            </a:r>
            <a:r>
              <a:rPr sz="1300" b="0" err="1">
                <a:solidFill>
                  <a:srgbClr val="1F2937"/>
                </a:solidFill>
                <a:latin typeface="Calibri"/>
              </a:rPr>
              <a:t>sözleşmesi</a:t>
            </a:r>
            <a:r>
              <a:rPr sz="1300" b="0">
                <a:solidFill>
                  <a:srgbClr val="1F2937"/>
                </a:solidFill>
                <a:latin typeface="Calibri"/>
              </a:rPr>
              <a:t> + </a:t>
            </a:r>
            <a:r>
              <a:rPr sz="1300" b="0" dirty="0">
                <a:solidFill>
                  <a:srgbClr val="1F2937"/>
                </a:solidFill>
                <a:latin typeface="Calibri"/>
              </a:rPr>
              <a:t>e-</a:t>
            </a:r>
            <a:r>
              <a:rPr sz="1300" b="0" dirty="0" err="1">
                <a:solidFill>
                  <a:srgbClr val="1F2937"/>
                </a:solidFill>
                <a:latin typeface="Calibri"/>
              </a:rPr>
              <a:t>imza</a:t>
            </a:r>
            <a:endParaRPr sz="1300" b="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229600" y="1188720"/>
            <a:ext cx="365760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9E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29600" y="1188720"/>
            <a:ext cx="3657600" cy="822960"/>
          </a:xfrm>
          <a:prstGeom prst="roundRect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1280160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137160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TEKLİF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10312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Calibri"/>
              </a:rPr>
              <a:t>Müşteri teklifi,</a:t>
            </a:r>
          </a:p>
          <a:p>
            <a:pPr algn="ctr"/>
            <a:r>
              <a:rPr sz="1300" b="0">
                <a:solidFill>
                  <a:srgbClr val="1F2937"/>
                </a:solidFill>
                <a:latin typeface="Calibri"/>
              </a:rPr>
              <a:t>satın alma, fiyat listesi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918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021343"/>
                </a:solidFill>
                <a:latin typeface="Calibri"/>
              </a:rPr>
              <a:t>Tek motor, tüm türler için aynı yetenekler: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840480"/>
            <a:ext cx="26974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1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3977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121147"/>
                </a:solidFill>
                <a:latin typeface="Calibri"/>
              </a:rPr>
              <a:t>{{ 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023360"/>
            <a:ext cx="19659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Değişken substitution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3840480"/>
            <a:ext cx="26974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4A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74720" y="3977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54ADD3"/>
                </a:solidFill>
                <a:latin typeface="Calibri"/>
              </a:rPr>
              <a:t>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40" y="4023360"/>
            <a:ext cx="19659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Koşullu bloklar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840480"/>
            <a:ext cx="26974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9E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55080" y="3977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069E49"/>
                </a:solidFill>
                <a:latin typeface="Calibri"/>
              </a:rPr>
              <a:t>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023360"/>
            <a:ext cx="19659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Döngüler (tablo)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98280" y="3840480"/>
            <a:ext cx="26974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35440" y="3977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00282A"/>
                </a:solidFill>
                <a:latin typeface="Calibri"/>
              </a:rPr>
              <a:t>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4023360"/>
            <a:ext cx="19659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Çoklu dil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663440"/>
            <a:ext cx="26974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1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4360" y="4800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021343"/>
                </a:solidFill>
                <a:latin typeface="Calibri"/>
              </a:rPr>
              <a:t>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4846320"/>
            <a:ext cx="19659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Versiyonlama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37560" y="4663440"/>
            <a:ext cx="26974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474720" y="4800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007BFF"/>
                </a:solidFill>
                <a:latin typeface="Calibri"/>
              </a:rPr>
              <a:t>✏️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77640" y="4846320"/>
            <a:ext cx="19659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Görsel editör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4663440"/>
            <a:ext cx="26974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E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55080" y="4800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5E6D7E"/>
                </a:solidFill>
                <a:latin typeface="Calibri"/>
              </a:rPr>
              <a:t>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4846320"/>
            <a:ext cx="19659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HTML / PDF / DOCX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98280" y="4663440"/>
            <a:ext cx="26974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9E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235440" y="4800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069E49"/>
                </a:solidFill>
                <a:latin typeface="Calibri"/>
              </a:rPr>
              <a:t>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8360" y="4846320"/>
            <a:ext cx="19659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Preview + </a:t>
            </a:r>
            <a:r>
              <a:rPr sz="1200" b="1" dirty="0" err="1">
                <a:solidFill>
                  <a:srgbClr val="1F2937"/>
                </a:solidFill>
                <a:latin typeface="Calibri"/>
              </a:rPr>
              <a:t>onay</a:t>
            </a:r>
            <a:endParaRPr sz="1200" b="1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57200" y="5852160"/>
            <a:ext cx="11247120" cy="64008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err="1">
                <a:solidFill>
                  <a:srgbClr val="021343"/>
                </a:solidFill>
                <a:latin typeface="Calibri"/>
              </a:rPr>
              <a:t>Hukuk</a:t>
            </a:r>
            <a:r>
              <a:rPr sz="1400" b="1">
                <a:solidFill>
                  <a:srgbClr val="021343"/>
                </a:solidFill>
                <a:latin typeface="Calibri"/>
              </a:rPr>
              <a:t> + </a:t>
            </a:r>
            <a:r>
              <a:rPr sz="1400" b="1" dirty="0" err="1">
                <a:solidFill>
                  <a:srgbClr val="021343"/>
                </a:solidFill>
                <a:latin typeface="Calibri"/>
              </a:rPr>
              <a:t>pazarlama</a:t>
            </a:r>
            <a:r>
              <a:rPr sz="1400" b="1" dirty="0">
                <a:solidFill>
                  <a:srgbClr val="021343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021343"/>
                </a:solidFill>
                <a:latin typeface="Calibri"/>
              </a:rPr>
              <a:t>IT'siz</a:t>
            </a:r>
            <a:r>
              <a:rPr sz="1400" b="1" dirty="0">
                <a:solidFill>
                  <a:srgbClr val="021343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021343"/>
                </a:solidFill>
                <a:latin typeface="Calibri"/>
              </a:rPr>
              <a:t>şablon</a:t>
            </a:r>
            <a:r>
              <a:rPr sz="1400" b="1" dirty="0">
                <a:solidFill>
                  <a:srgbClr val="021343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021343"/>
                </a:solidFill>
                <a:latin typeface="Calibri"/>
              </a:rPr>
              <a:t>yönetir</a:t>
            </a:r>
            <a:r>
              <a:rPr sz="1400" b="1" dirty="0">
                <a:solidFill>
                  <a:srgbClr val="021343"/>
                </a:solidFill>
                <a:latin typeface="Calibri"/>
              </a:rPr>
              <a:t>. Yeni </a:t>
            </a:r>
            <a:r>
              <a:rPr sz="1400" b="1" dirty="0" err="1">
                <a:solidFill>
                  <a:srgbClr val="021343"/>
                </a:solidFill>
                <a:latin typeface="Calibri"/>
              </a:rPr>
              <a:t>marka</a:t>
            </a:r>
            <a:r>
              <a:rPr sz="1400" b="1" dirty="0">
                <a:solidFill>
                  <a:srgbClr val="021343"/>
                </a:solidFill>
                <a:latin typeface="Calibri"/>
              </a:rPr>
              <a:t>/</a:t>
            </a:r>
            <a:r>
              <a:rPr sz="1400" b="1" dirty="0" err="1">
                <a:solidFill>
                  <a:srgbClr val="021343"/>
                </a:solidFill>
                <a:latin typeface="Calibri"/>
              </a:rPr>
              <a:t>dil</a:t>
            </a:r>
            <a:r>
              <a:rPr sz="1400" b="1" dirty="0">
                <a:solidFill>
                  <a:srgbClr val="021343"/>
                </a:solidFill>
                <a:latin typeface="Calibri"/>
              </a:rPr>
              <a:t> → </a:t>
            </a:r>
            <a:r>
              <a:rPr sz="1400" b="1" dirty="0" err="1">
                <a:solidFill>
                  <a:srgbClr val="021343"/>
                </a:solidFill>
                <a:latin typeface="Calibri"/>
              </a:rPr>
              <a:t>kod</a:t>
            </a:r>
            <a:r>
              <a:rPr sz="1400" b="1" dirty="0">
                <a:solidFill>
                  <a:srgbClr val="021343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021343"/>
                </a:solidFill>
                <a:latin typeface="Calibri"/>
              </a:rPr>
              <a:t>değişmez</a:t>
            </a:r>
            <a:r>
              <a:rPr sz="1400" b="1" dirty="0">
                <a:solidFill>
                  <a:srgbClr val="021343"/>
                </a:solidFill>
                <a:latin typeface="Calibri"/>
              </a:rPr>
              <a:t>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537960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 err="1">
                <a:solidFill>
                  <a:srgbClr val="6B7280"/>
                </a:solidFill>
                <a:latin typeface="Calibri"/>
              </a:rPr>
              <a:t>Codeliman</a:t>
            </a:r>
            <a:r>
              <a:rPr sz="1000" b="0" dirty="0">
                <a:solidFill>
                  <a:srgbClr val="6B7280"/>
                </a:solidFill>
                <a:latin typeface="Calibri"/>
              </a:rPr>
              <a:t>  •  </a:t>
            </a:r>
            <a:r>
              <a:rPr lang="en-US" sz="1000" b="0" dirty="0" err="1">
                <a:solidFill>
                  <a:srgbClr val="6B7280"/>
                </a:solidFill>
                <a:latin typeface="Calibri"/>
              </a:rPr>
              <a:t>PlatformSuite</a:t>
            </a:r>
            <a:r>
              <a:rPr lang="en-US" sz="10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b="0" dirty="0">
                <a:solidFill>
                  <a:srgbClr val="6B7280"/>
                </a:solidFill>
                <a:latin typeface="Calibri"/>
              </a:rPr>
              <a:t>•  Haziran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21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Calibri"/>
              </a:rPr>
              <a:t>Notification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Calibri"/>
              </a:rPr>
              <a:t>Tek API → çok kanal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846320" y="1371600"/>
            <a:ext cx="2468880" cy="914400"/>
          </a:xfrm>
          <a:prstGeom prst="roundRect">
            <a:avLst/>
          </a:prstGeom>
          <a:solidFill>
            <a:srgbClr val="021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Notification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Engine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26080"/>
            <a:ext cx="21031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21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2103120" cy="548640"/>
          </a:xfrm>
          <a:prstGeom prst="roundRect">
            <a:avLst/>
          </a:prstGeom>
          <a:solidFill>
            <a:srgbClr val="121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E-POSTA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661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>
                <a:solidFill>
                  <a:srgbClr val="121147"/>
                </a:solidFill>
                <a:latin typeface="Calibri"/>
              </a:rPr>
              <a:t>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4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Resmi yazışma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audit izi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1508760" y="2286000"/>
            <a:ext cx="4581144" cy="640080"/>
          </a:xfrm>
          <a:prstGeom prst="bentConnector3">
            <a:avLst/>
          </a:prstGeom>
          <a:ln w="19050">
            <a:solidFill>
              <a:srgbClr val="E5E7EB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0" y="2926080"/>
            <a:ext cx="21031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4A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743200" y="2926080"/>
            <a:ext cx="2103120" cy="548640"/>
          </a:xfrm>
          <a:prstGeom prst="roundRect">
            <a:avLst/>
          </a:prstGeom>
          <a:solidFill>
            <a:srgbClr val="54A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5661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>
                <a:solidFill>
                  <a:srgbClr val="54ADD3"/>
                </a:solidFill>
                <a:latin typeface="Calibri"/>
              </a:rPr>
              <a:t>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97764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Acil / kısa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(OTP, eskalasyon)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794760" y="2286000"/>
            <a:ext cx="2295144" cy="640080"/>
          </a:xfrm>
          <a:prstGeom prst="bentConnector3">
            <a:avLst/>
          </a:prstGeom>
          <a:ln w="19050">
            <a:solidFill>
              <a:srgbClr val="E5E7EB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29200" y="2926080"/>
            <a:ext cx="21031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9E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29200" y="2926080"/>
            <a:ext cx="2103120" cy="548640"/>
          </a:xfrm>
          <a:prstGeom prst="roundRect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PUSH (WEB)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5661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>
                <a:solidFill>
                  <a:srgbClr val="069E49"/>
                </a:solidFill>
                <a:latin typeface="Calibri"/>
              </a:rPr>
              <a:t>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97764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Tarayıcı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bildirimi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6080760" y="2286000"/>
            <a:ext cx="9144" cy="640080"/>
          </a:xfrm>
          <a:prstGeom prst="bentConnector3">
            <a:avLst/>
          </a:prstGeom>
          <a:ln w="19050">
            <a:solidFill>
              <a:srgbClr val="E5E7EB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15200" y="2926080"/>
            <a:ext cx="21031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315200" y="2926080"/>
            <a:ext cx="2103120" cy="548640"/>
          </a:xfrm>
          <a:prstGeom prst="roundRect">
            <a:avLst/>
          </a:prstGeom>
          <a:solidFill>
            <a:srgbClr val="002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PUSH (MOBILE)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5661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>
                <a:solidFill>
                  <a:srgbClr val="00282A"/>
                </a:solidFill>
                <a:latin typeface="Calibri"/>
              </a:rPr>
              <a:t>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97764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iOS / Android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saha kullanıcı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89904" y="2286000"/>
            <a:ext cx="2276856" cy="640080"/>
          </a:xfrm>
          <a:prstGeom prst="bentConnector3">
            <a:avLst/>
          </a:prstGeom>
          <a:ln w="19050">
            <a:solidFill>
              <a:srgbClr val="E5E7EB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601200" y="2926080"/>
            <a:ext cx="21031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601200" y="2926080"/>
            <a:ext cx="2103120" cy="548640"/>
          </a:xfrm>
          <a:prstGeom prst="round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IN-APP INBOX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5661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>
                <a:solidFill>
                  <a:srgbClr val="007BFF"/>
                </a:solidFill>
                <a:latin typeface="Calibri"/>
              </a:rPr>
              <a:t>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397764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Uygulama içi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bildirim merkezi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89904" y="2286000"/>
            <a:ext cx="4562856" cy="640080"/>
          </a:xfrm>
          <a:prstGeom prst="bentConnector3">
            <a:avLst/>
          </a:prstGeom>
          <a:ln w="19050">
            <a:solidFill>
              <a:srgbClr val="E5E7EB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021343"/>
                </a:solidFill>
                <a:latin typeface="Calibri"/>
              </a:rPr>
              <a:t>Hazır Gelen Yetenekler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257800"/>
            <a:ext cx="36576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1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530352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21147"/>
                </a:solidFill>
                <a:latin typeface="Calibri"/>
              </a:rPr>
              <a:t>✓  Template-driven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43400" y="5257800"/>
            <a:ext cx="36576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4A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26280" y="530352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54ADD3"/>
                </a:solidFill>
                <a:latin typeface="Calibri"/>
              </a:rPr>
              <a:t>✓  Kullanıcı tercihi (opt-in/out)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5257800"/>
            <a:ext cx="36576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9E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12480" y="530352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69E49"/>
                </a:solidFill>
                <a:latin typeface="Calibri"/>
              </a:rPr>
              <a:t>✓  Delivery tracking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760720"/>
            <a:ext cx="36576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58064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dirty="0">
                <a:solidFill>
                  <a:srgbClr val="00282A"/>
                </a:solidFill>
                <a:latin typeface="Calibri"/>
              </a:rPr>
              <a:t>✓  </a:t>
            </a:r>
            <a:r>
              <a:rPr sz="1100" b="1">
                <a:solidFill>
                  <a:srgbClr val="00282A"/>
                </a:solidFill>
                <a:latin typeface="Calibri"/>
              </a:rPr>
              <a:t>Real-time + </a:t>
            </a:r>
            <a:r>
              <a:rPr sz="1100" b="1" dirty="0">
                <a:solidFill>
                  <a:srgbClr val="00282A"/>
                </a:solidFill>
                <a:latin typeface="Calibri"/>
              </a:rPr>
              <a:t>batched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43400" y="5760720"/>
            <a:ext cx="36576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E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26280" y="58064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dirty="0">
                <a:solidFill>
                  <a:srgbClr val="5E6D7E"/>
                </a:solidFill>
                <a:latin typeface="Calibri"/>
              </a:rPr>
              <a:t>✓  </a:t>
            </a:r>
            <a:r>
              <a:rPr sz="1100" b="1">
                <a:solidFill>
                  <a:srgbClr val="5E6D7E"/>
                </a:solidFill>
                <a:latin typeface="Calibri"/>
              </a:rPr>
              <a:t>Retry + </a:t>
            </a:r>
            <a:r>
              <a:rPr sz="1100" b="1" dirty="0">
                <a:solidFill>
                  <a:srgbClr val="5E6D7E"/>
                </a:solidFill>
                <a:latin typeface="Calibri"/>
              </a:rPr>
              <a:t>dead letter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0" y="5760720"/>
            <a:ext cx="36576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1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12480" y="58064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21343"/>
                </a:solidFill>
                <a:latin typeface="Calibri"/>
              </a:rPr>
              <a:t>✓  Sağlayıcı bağımsız (SendGrid/SES/Twilio)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6355080"/>
            <a:ext cx="11247120" cy="1371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6537960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 err="1">
                <a:solidFill>
                  <a:srgbClr val="6B7280"/>
                </a:solidFill>
                <a:latin typeface="Calibri"/>
              </a:rPr>
              <a:t>Codeliman</a:t>
            </a:r>
            <a:r>
              <a:rPr sz="1000" b="0" dirty="0">
                <a:solidFill>
                  <a:srgbClr val="6B7280"/>
                </a:solidFill>
                <a:latin typeface="Calibri"/>
              </a:rPr>
              <a:t>  •  </a:t>
            </a:r>
            <a:r>
              <a:rPr lang="en-US" sz="1000" b="0" dirty="0" err="1">
                <a:solidFill>
                  <a:srgbClr val="6B7280"/>
                </a:solidFill>
                <a:latin typeface="Calibri"/>
              </a:rPr>
              <a:t>PlatformSuite</a:t>
            </a:r>
            <a:r>
              <a:rPr lang="en-US" sz="10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b="0" dirty="0">
                <a:solidFill>
                  <a:srgbClr val="6B7280"/>
                </a:solidFill>
                <a:latin typeface="Calibri"/>
              </a:rPr>
              <a:t>•  Haziran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2743200" y="3657600"/>
            <a:ext cx="7315200" cy="7315200"/>
          </a:xfrm>
          <a:prstGeom prst="ellipse">
            <a:avLst/>
          </a:prstGeom>
          <a:solidFill>
            <a:srgbClr val="121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0" y="-2743200"/>
            <a:ext cx="7315200" cy="7315200"/>
          </a:xfrm>
          <a:prstGeom prst="ellipse">
            <a:avLst/>
          </a:prstGeom>
          <a:solidFill>
            <a:srgbClr val="069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Calibri"/>
              </a:rPr>
              <a:t>Teşekkürler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548640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021343"/>
                </a:solidFill>
                <a:latin typeface="Calibri"/>
              </a:rPr>
              <a:t>30 dakikalık canlı kod demosu mevcuttur —</a:t>
            </a:r>
          </a:p>
          <a:p>
            <a:pPr algn="ctr"/>
            <a:r>
              <a:rPr sz="1500" b="1">
                <a:solidFill>
                  <a:srgbClr val="021343"/>
                </a:solidFill>
                <a:latin typeface="Calibri"/>
              </a:rPr>
              <a:t>yeni bir entity'yi sıfırdan AI ile ekleyerek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21343"/>
      </a:dk2>
      <a:lt2>
        <a:srgbClr val="B4DCEC"/>
      </a:lt2>
      <a:accent1>
        <a:srgbClr val="021343"/>
      </a:accent1>
      <a:accent2>
        <a:srgbClr val="069E49"/>
      </a:accent2>
      <a:accent3>
        <a:srgbClr val="2575FC"/>
      </a:accent3>
      <a:accent4>
        <a:srgbClr val="54ADD3"/>
      </a:accent4>
      <a:accent5>
        <a:srgbClr val="121147"/>
      </a:accent5>
      <a:accent6>
        <a:srgbClr val="00282A"/>
      </a:accent6>
      <a:hlink>
        <a:srgbClr val="007BFF"/>
      </a:hlink>
      <a:folHlink>
        <a:srgbClr val="5E6D7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2725</Words>
  <Application>Microsoft Macintosh PowerPoint</Application>
  <PresentationFormat>Widescreen</PresentationFormat>
  <Paragraphs>713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Kenan Kaplan</cp:lastModifiedBy>
  <cp:revision>18</cp:revision>
  <dcterms:created xsi:type="dcterms:W3CDTF">2013-01-27T09:14:16Z</dcterms:created>
  <dcterms:modified xsi:type="dcterms:W3CDTF">2026-06-02T17:18:33Z</dcterms:modified>
  <cp:category/>
</cp:coreProperties>
</file>